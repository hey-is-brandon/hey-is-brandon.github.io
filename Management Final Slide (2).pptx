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Play"/>
      <p:regular r:id="rId28"/>
      <p:bold r:id="rId29"/>
    </p:embeddedFont>
    <p:embeddedFont>
      <p:font typeface="Playfair Display"/>
      <p:regular r:id="rId30"/>
      <p:bold r:id="rId31"/>
      <p:italic r:id="rId32"/>
      <p:boldItalic r:id="rId33"/>
    </p:embeddedFont>
    <p:embeddedFont>
      <p:font typeface="Playfair Display SemiBold"/>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C6D87B-30AE-4615-ADF6-2AAA587C7379}">
  <a:tblStyle styleId="{13C6D87B-30AE-4615-ADF6-2AAA587C737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Play-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lay-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layfairDisplay-bold.fntdata"/><Relationship Id="rId30" Type="http://schemas.openxmlformats.org/officeDocument/2006/relationships/font" Target="fonts/PlayfairDisplay-regular.fntdata"/><Relationship Id="rId11" Type="http://schemas.openxmlformats.org/officeDocument/2006/relationships/slide" Target="slides/slide4.xml"/><Relationship Id="rId33" Type="http://schemas.openxmlformats.org/officeDocument/2006/relationships/font" Target="fonts/PlayfairDisplay-boldItalic.fntdata"/><Relationship Id="rId10" Type="http://schemas.openxmlformats.org/officeDocument/2006/relationships/slide" Target="slides/slide3.xml"/><Relationship Id="rId32" Type="http://schemas.openxmlformats.org/officeDocument/2006/relationships/font" Target="fonts/PlayfairDisplay-italic.fntdata"/><Relationship Id="rId13" Type="http://schemas.openxmlformats.org/officeDocument/2006/relationships/slide" Target="slides/slide6.xml"/><Relationship Id="rId35" Type="http://schemas.openxmlformats.org/officeDocument/2006/relationships/font" Target="fonts/PlayfairDisplaySemiBold-bold.fntdata"/><Relationship Id="rId12" Type="http://schemas.openxmlformats.org/officeDocument/2006/relationships/slide" Target="slides/slide5.xml"/><Relationship Id="rId34" Type="http://schemas.openxmlformats.org/officeDocument/2006/relationships/font" Target="fonts/PlayfairDisplaySemiBold-regular.fntdata"/><Relationship Id="rId15" Type="http://schemas.openxmlformats.org/officeDocument/2006/relationships/slide" Target="slides/slide8.xml"/><Relationship Id="rId37" Type="http://schemas.openxmlformats.org/officeDocument/2006/relationships/font" Target="fonts/PlayfairDisplaySemiBold-boldItalic.fntdata"/><Relationship Id="rId14" Type="http://schemas.openxmlformats.org/officeDocument/2006/relationships/slide" Target="slides/slide7.xml"/><Relationship Id="rId36" Type="http://schemas.openxmlformats.org/officeDocument/2006/relationships/font" Target="fonts/PlayfairDisplaySemi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3e8eff96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3e8eff96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Adrian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3e8eff96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3e8eff96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Adrian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3e8eff96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3e8eff96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Adrian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3e8eff96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d3e8eff96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Adrian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3e8eff96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d3e8eff96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Adrian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3e8eff96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d3e8eff96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Josh</a:t>
            </a:r>
            <a:endParaRPr/>
          </a:p>
          <a:p>
            <a:pPr indent="0" lvl="0" marL="0" rtl="0" algn="l">
              <a:spcBef>
                <a:spcPts val="0"/>
              </a:spcBef>
              <a:spcAft>
                <a:spcPts val="0"/>
              </a:spcAft>
              <a:buClr>
                <a:schemeClr val="dk1"/>
              </a:buClr>
              <a:buSzPts val="1100"/>
              <a:buFont typeface="Arial"/>
              <a:buNone/>
            </a:pPr>
            <a:r>
              <a:rPr lang="en">
                <a:solidFill>
                  <a:schemeClr val="dk1"/>
                </a:solidFill>
              </a:rPr>
              <a:t>Bullet Points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3e8eff96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3e8eff96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Josh</a:t>
            </a:r>
            <a:endParaRPr/>
          </a:p>
          <a:p>
            <a:pPr indent="0" lvl="0" marL="0" rtl="0" algn="l">
              <a:spcBef>
                <a:spcPts val="0"/>
              </a:spcBef>
              <a:spcAft>
                <a:spcPts val="0"/>
              </a:spcAft>
              <a:buNone/>
            </a:pPr>
            <a:r>
              <a:rPr lang="en">
                <a:solidFill>
                  <a:schemeClr val="dk1"/>
                </a:solidFill>
              </a:rPr>
              <a:t>Bullet Points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3e8eff96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3e8eff96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Brandon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3e8eff96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d3e8eff96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Brandon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3e8eff96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d3e8eff96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Fix the styling.    Josh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3e8eff96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d3e8eff96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Brandon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d3e8eff96e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d3e8eff96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Fix the styling.   Josh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3e8eff96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3e8eff96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Mikael Ali</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3e8eff96e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3e8eff96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Mikael Ali Sheikh</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3e8eff96e_5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Mikael Ali Sheikh</a:t>
            </a:r>
            <a:endParaRPr>
              <a:solidFill>
                <a:schemeClr val="dk1"/>
              </a:solidFill>
            </a:endParaRPr>
          </a:p>
          <a:p>
            <a:pPr indent="0" lvl="0" marL="0" rtl="0" algn="l">
              <a:spcBef>
                <a:spcPts val="0"/>
              </a:spcBef>
              <a:spcAft>
                <a:spcPts val="0"/>
              </a:spcAft>
              <a:buNone/>
            </a:pPr>
            <a:r>
              <a:t/>
            </a:r>
            <a:endParaRPr/>
          </a:p>
        </p:txBody>
      </p:sp>
      <p:sp>
        <p:nvSpPr>
          <p:cNvPr id="248" name="Google Shape;248;g3d3e8eff96e_5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3e8eff96e_5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Mikael Ali Sheikh</a:t>
            </a:r>
            <a:endParaRPr>
              <a:solidFill>
                <a:schemeClr val="dk1"/>
              </a:solidFill>
            </a:endParaRPr>
          </a:p>
          <a:p>
            <a:pPr indent="0" lvl="0" marL="0" rtl="0" algn="l">
              <a:spcBef>
                <a:spcPts val="0"/>
              </a:spcBef>
              <a:spcAft>
                <a:spcPts val="0"/>
              </a:spcAft>
              <a:buNone/>
            </a:pPr>
            <a:r>
              <a:t/>
            </a:r>
            <a:endParaRPr/>
          </a:p>
        </p:txBody>
      </p:sp>
      <p:sp>
        <p:nvSpPr>
          <p:cNvPr id="255" name="Google Shape;255;g3d3e8eff96e_5_9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d3e8eff96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d3e8eff96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Mikael Ali Sheikh</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Bullet Points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3e8eff96e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d3e8eff96e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Brandon</a:t>
            </a:r>
            <a:endParaRPr sz="1200">
              <a:solidFill>
                <a:schemeClr val="dk1"/>
              </a:solidFill>
              <a:latin typeface="Calibri"/>
              <a:ea typeface="Calibri"/>
              <a:cs typeface="Calibri"/>
              <a:sym typeface="Calibri"/>
            </a:endParaRPr>
          </a:p>
          <a:p>
            <a:pPr indent="0" lvl="0" marL="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rtl="0" algn="ctr">
              <a:spcBef>
                <a:spcPts val="0"/>
              </a:spcBef>
              <a:spcAft>
                <a:spcPts val="0"/>
              </a:spcAft>
              <a:buNone/>
            </a:pPr>
            <a:r>
              <a:rPr lang="en" sz="1800">
                <a:solidFill>
                  <a:schemeClr val="dk1"/>
                </a:solidFill>
                <a:latin typeface="Calibri"/>
                <a:ea typeface="Calibri"/>
                <a:cs typeface="Calibri"/>
                <a:sym typeface="Calibri"/>
              </a:rPr>
              <a:t>While the cash and consulting agreement is attractive, along with our obligation to stockholders being important, selling our business will harm our stakeholders too much to agree. The new owners have no experience in a business like this and have no personal connection to the business, as they view it as a “fun” investment. Furthermore, our CSR commitments won’t be upheld by these new owners if only the stockholders are solid to gain in the short term. Our customers, employees, suppliers, and business  partners may have to deal with major consequences with no protection to help them.  Selling the business has horrible long-term consequences that outweigh the short-term benefits. Selling the business would lead to the loss of jobs, negatively affecting communities, employees, and more. Depending on the new owner, there can be a lack of leadership, leading to the company failing. Although shareholders would benefit, profit isn’t all that matters when it comes to running the business.</a:t>
            </a:r>
            <a:endParaRPr sz="18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d3e8eff96e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d3e8eff96e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Brandon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3887391" y="740569"/>
            <a:ext cx="4629150" cy="3655219"/>
          </a:xfrm>
          <a:prstGeom prst="rect">
            <a:avLst/>
          </a:prstGeom>
          <a:noFill/>
          <a:ln>
            <a:noFill/>
          </a:ln>
        </p:spPr>
      </p:sp>
      <p:sp>
        <p:nvSpPr>
          <p:cNvPr id="109" name="Google Shape;109;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28" name="Shape 128"/>
        <p:cNvGrpSpPr/>
        <p:nvPr/>
      </p:nvGrpSpPr>
      <p:grpSpPr>
        <a:xfrm>
          <a:off x="0" y="0"/>
          <a:ext cx="0" cy="0"/>
          <a:chOff x="0" y="0"/>
          <a:chExt cx="0" cy="0"/>
        </a:xfrm>
      </p:grpSpPr>
      <p:sp>
        <p:nvSpPr>
          <p:cNvPr id="129" name="Google Shape;129;p25"/>
          <p:cNvSpPr txBox="1"/>
          <p:nvPr>
            <p:ph type="ctrTitle"/>
          </p:nvPr>
        </p:nvSpPr>
        <p:spPr>
          <a:xfrm>
            <a:off x="1611301" y="2629975"/>
            <a:ext cx="5921400" cy="10929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1200"/>
              </a:spcAft>
              <a:buNone/>
            </a:pPr>
            <a:r>
              <a:rPr lang="en" sz="5900">
                <a:latin typeface="Playfair Display SemiBold"/>
                <a:ea typeface="Playfair Display SemiBold"/>
                <a:cs typeface="Playfair Display SemiBold"/>
                <a:sym typeface="Playfair Display SemiBold"/>
              </a:rPr>
              <a:t>From Me to (R)U</a:t>
            </a:r>
            <a:endParaRPr b="1" sz="2200">
              <a:latin typeface="Calibri"/>
              <a:ea typeface="Calibri"/>
              <a:cs typeface="Calibri"/>
              <a:sym typeface="Calibri"/>
            </a:endParaRPr>
          </a:p>
        </p:txBody>
      </p:sp>
      <p:sp>
        <p:nvSpPr>
          <p:cNvPr id="130" name="Google Shape;130;p25"/>
          <p:cNvSpPr txBox="1"/>
          <p:nvPr>
            <p:ph idx="1" type="subTitle"/>
          </p:nvPr>
        </p:nvSpPr>
        <p:spPr>
          <a:xfrm>
            <a:off x="311700" y="4746663"/>
            <a:ext cx="8520600" cy="7926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935"/>
              <a:buNone/>
            </a:pPr>
            <a:r>
              <a:rPr b="1" lang="en" sz="1980">
                <a:solidFill>
                  <a:schemeClr val="dk1"/>
                </a:solidFill>
              </a:rPr>
              <a:t>Adrian Miedzybrodzki, Brandon Javier, Mikael-Ali Sheikh, Joshua Lee</a:t>
            </a:r>
            <a:endParaRPr b="1" sz="1980">
              <a:solidFill>
                <a:schemeClr val="dk1"/>
              </a:solidFill>
            </a:endParaRPr>
          </a:p>
        </p:txBody>
      </p:sp>
      <p:pic>
        <p:nvPicPr>
          <p:cNvPr id="131" name="Google Shape;131;p25"/>
          <p:cNvPicPr preferRelativeResize="0"/>
          <p:nvPr/>
        </p:nvPicPr>
        <p:blipFill rotWithShape="1">
          <a:blip r:embed="rId3">
            <a:alphaModFix/>
          </a:blip>
          <a:srcRect b="0" l="0" r="0" t="0"/>
          <a:stretch/>
        </p:blipFill>
        <p:spPr>
          <a:xfrm>
            <a:off x="1706638" y="11"/>
            <a:ext cx="5730701" cy="2832425"/>
          </a:xfrm>
          <a:prstGeom prst="rect">
            <a:avLst/>
          </a:prstGeom>
          <a:noFill/>
          <a:ln>
            <a:noFill/>
          </a:ln>
        </p:spPr>
      </p:pic>
      <p:sp>
        <p:nvSpPr>
          <p:cNvPr id="132" name="Google Shape;132;p25"/>
          <p:cNvSpPr txBox="1"/>
          <p:nvPr/>
        </p:nvSpPr>
        <p:spPr>
          <a:xfrm>
            <a:off x="2898827" y="3431875"/>
            <a:ext cx="3473400" cy="12930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2100">
                <a:solidFill>
                  <a:schemeClr val="dk1"/>
                </a:solidFill>
                <a:latin typeface="Calibri"/>
                <a:ea typeface="Calibri"/>
                <a:cs typeface="Calibri"/>
                <a:sym typeface="Calibri"/>
              </a:rPr>
              <a:t>“</a:t>
            </a:r>
            <a:r>
              <a:rPr b="1" i="1" lang="en" sz="2000" u="sng">
                <a:solidFill>
                  <a:schemeClr val="dk1"/>
                </a:solidFill>
                <a:latin typeface="Calibri"/>
                <a:ea typeface="Calibri"/>
                <a:cs typeface="Calibri"/>
                <a:sym typeface="Calibri"/>
              </a:rPr>
              <a:t>By College Students, For College Students</a:t>
            </a:r>
            <a:r>
              <a:rPr b="1" lang="en" sz="2100">
                <a:solidFill>
                  <a:schemeClr val="dk1"/>
                </a:solidFill>
                <a:latin typeface="Calibri"/>
                <a:ea typeface="Calibri"/>
                <a:cs typeface="Calibri"/>
                <a:sym typeface="Calibri"/>
              </a:rPr>
              <a:t>”</a:t>
            </a:r>
            <a:r>
              <a:rPr b="1" lang="en" sz="2500">
                <a:solidFill>
                  <a:schemeClr val="dk1"/>
                </a:solidFill>
                <a:latin typeface="Calibri"/>
                <a:ea typeface="Calibri"/>
                <a:cs typeface="Calibri"/>
                <a:sym typeface="Calibri"/>
              </a:rPr>
              <a:t>                 </a:t>
            </a:r>
            <a:endParaRPr b="1" sz="2500">
              <a:solidFill>
                <a:schemeClr val="dk1"/>
              </a:solidFill>
              <a:latin typeface="Calibri"/>
              <a:ea typeface="Calibri"/>
              <a:cs typeface="Calibri"/>
              <a:sym typeface="Calibri"/>
            </a:endParaRPr>
          </a:p>
          <a:p>
            <a:pPr indent="0" lvl="0" marL="0" rtl="0" algn="ctr">
              <a:lnSpc>
                <a:spcPct val="100000"/>
              </a:lnSpc>
              <a:spcBef>
                <a:spcPts val="0"/>
              </a:spcBef>
              <a:spcAft>
                <a:spcPts val="0"/>
              </a:spcAft>
              <a:buNone/>
            </a:pPr>
            <a:r>
              <a:t/>
            </a:r>
            <a:endParaRPr b="1" sz="500">
              <a:solidFill>
                <a:schemeClr val="dk1"/>
              </a:solidFill>
              <a:latin typeface="Calibri"/>
              <a:ea typeface="Calibri"/>
              <a:cs typeface="Calibri"/>
              <a:sym typeface="Calibri"/>
            </a:endParaRPr>
          </a:p>
          <a:p>
            <a:pPr indent="0" lvl="0" marL="0" rtl="0" algn="ctr">
              <a:lnSpc>
                <a:spcPct val="100000"/>
              </a:lnSpc>
              <a:spcBef>
                <a:spcPts val="0"/>
              </a:spcBef>
              <a:spcAft>
                <a:spcPts val="0"/>
              </a:spcAft>
              <a:buNone/>
            </a:pPr>
            <a:r>
              <a:rPr b="1" lang="en" sz="2100">
                <a:solidFill>
                  <a:schemeClr val="dk1"/>
                </a:solidFill>
                <a:latin typeface="Calibri"/>
                <a:ea typeface="Calibri"/>
                <a:cs typeface="Calibri"/>
                <a:sym typeface="Calibri"/>
              </a:rPr>
              <a:t>rupawning.com</a:t>
            </a:r>
            <a:endParaRPr b="1" sz="2100">
              <a:solidFill>
                <a:schemeClr val="dk1"/>
              </a:solidFill>
              <a:latin typeface="Calibri"/>
              <a:ea typeface="Calibri"/>
              <a:cs typeface="Calibri"/>
              <a:sym typeface="Calibri"/>
            </a:endParaRPr>
          </a:p>
        </p:txBody>
      </p:sp>
      <p:pic>
        <p:nvPicPr>
          <p:cNvPr id="133" name="Google Shape;133;p25"/>
          <p:cNvPicPr preferRelativeResize="0"/>
          <p:nvPr/>
        </p:nvPicPr>
        <p:blipFill>
          <a:blip r:embed="rId4">
            <a:alphaModFix/>
          </a:blip>
          <a:stretch>
            <a:fillRect/>
          </a:stretch>
        </p:blipFill>
        <p:spPr>
          <a:xfrm rot="5400000">
            <a:off x="-2462837" y="1610587"/>
            <a:ext cx="5145999" cy="1919824"/>
          </a:xfrm>
          <a:prstGeom prst="rect">
            <a:avLst/>
          </a:prstGeom>
          <a:noFill/>
          <a:ln>
            <a:noFill/>
          </a:ln>
        </p:spPr>
      </p:pic>
      <p:pic>
        <p:nvPicPr>
          <p:cNvPr id="134" name="Google Shape;134;p25"/>
          <p:cNvPicPr preferRelativeResize="0"/>
          <p:nvPr/>
        </p:nvPicPr>
        <p:blipFill>
          <a:blip r:embed="rId4">
            <a:alphaModFix/>
          </a:blip>
          <a:stretch>
            <a:fillRect/>
          </a:stretch>
        </p:blipFill>
        <p:spPr>
          <a:xfrm rot="5400000">
            <a:off x="6520237" y="1678264"/>
            <a:ext cx="5281351" cy="19198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38" name="Shape 138"/>
        <p:cNvGrpSpPr/>
        <p:nvPr/>
      </p:nvGrpSpPr>
      <p:grpSpPr>
        <a:xfrm>
          <a:off x="0" y="0"/>
          <a:ext cx="0" cy="0"/>
          <a:chOff x="0" y="0"/>
          <a:chExt cx="0" cy="0"/>
        </a:xfrm>
      </p:grpSpPr>
      <p:sp>
        <p:nvSpPr>
          <p:cNvPr id="139" name="Google Shape;139;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latin typeface="Calibri"/>
                <a:ea typeface="Calibri"/>
                <a:cs typeface="Calibri"/>
                <a:sym typeface="Calibri"/>
              </a:rPr>
              <a:t>Our organization focuses on convenience, ease-of-use, and authenticity—things that other similar services, such as Facebook Marketplace, doesn’t have. Services such as Facebook M</a:t>
            </a:r>
            <a:r>
              <a:rPr lang="en">
                <a:solidFill>
                  <a:schemeClr val="dk1"/>
                </a:solidFill>
                <a:latin typeface="Calibri"/>
                <a:ea typeface="Calibri"/>
                <a:cs typeface="Calibri"/>
                <a:sym typeface="Calibri"/>
              </a:rPr>
              <a:t>arketplace</a:t>
            </a:r>
            <a:r>
              <a:rPr lang="en">
                <a:solidFill>
                  <a:schemeClr val="dk1"/>
                </a:solidFill>
                <a:latin typeface="Calibri"/>
                <a:ea typeface="Calibri"/>
                <a:cs typeface="Calibri"/>
                <a:sym typeface="Calibri"/>
              </a:rPr>
              <a:t> or other online pawn shops have goods that are too far away. With our organization being placed on campus, every student will have access to these products even without a car (The buses provide enough transportation across all campuses). Additionally, services such as eBay or Facebook Marketplace are considered older platforms for many. This service will be catered by Rutgers students for Rutgers students, providing products that consumers know are real and worthy.</a:t>
            </a:r>
            <a:endParaRPr>
              <a:solidFill>
                <a:schemeClr val="dk1"/>
              </a:solidFill>
              <a:latin typeface="Calibri"/>
              <a:ea typeface="Calibri"/>
              <a:cs typeface="Calibri"/>
              <a:sym typeface="Calibri"/>
            </a:endParaRPr>
          </a:p>
        </p:txBody>
      </p:sp>
      <p:sp>
        <p:nvSpPr>
          <p:cNvPr id="140" name="Google Shape;140;p26"/>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6"/>
          <p:cNvSpPr txBox="1"/>
          <p:nvPr>
            <p:ph type="title"/>
          </p:nvPr>
        </p:nvSpPr>
        <p:spPr>
          <a:xfrm>
            <a:off x="52463" y="861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chemeClr val="lt1"/>
                </a:solidFill>
                <a:latin typeface="Playfair Display"/>
                <a:ea typeface="Playfair Display"/>
                <a:cs typeface="Playfair Display"/>
                <a:sym typeface="Playfair Display"/>
              </a:rPr>
              <a:t>Description of your Business Concep</a:t>
            </a:r>
            <a:r>
              <a:rPr lang="en" sz="3020">
                <a:solidFill>
                  <a:schemeClr val="lt1"/>
                </a:solidFill>
                <a:latin typeface="Playfair Display"/>
                <a:ea typeface="Playfair Display"/>
                <a:cs typeface="Playfair Display"/>
                <a:sym typeface="Playfair Display"/>
              </a:rPr>
              <a:t>t</a:t>
            </a:r>
            <a:endParaRPr sz="3020">
              <a:solidFill>
                <a:schemeClr val="lt1"/>
              </a:solidFill>
              <a:latin typeface="Playfair Display"/>
              <a:ea typeface="Playfair Display"/>
              <a:cs typeface="Playfair Display"/>
              <a:sym typeface="Playfair Displ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45" name="Shape 145"/>
        <p:cNvGrpSpPr/>
        <p:nvPr/>
      </p:nvGrpSpPr>
      <p:grpSpPr>
        <a:xfrm>
          <a:off x="0" y="0"/>
          <a:ext cx="0" cy="0"/>
          <a:chOff x="0" y="0"/>
          <a:chExt cx="0" cy="0"/>
        </a:xfrm>
      </p:grpSpPr>
      <p:sp>
        <p:nvSpPr>
          <p:cNvPr id="146" name="Google Shape;14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57200" lvl="0" marL="1371600" rtl="0" algn="l">
              <a:spcBef>
                <a:spcPts val="0"/>
              </a:spcBef>
              <a:spcAft>
                <a:spcPts val="0"/>
              </a:spcAft>
              <a:buNone/>
            </a:pPr>
            <a:r>
              <a:rPr lang="en">
                <a:solidFill>
                  <a:schemeClr val="dk1"/>
                </a:solidFill>
                <a:latin typeface="Cambria"/>
                <a:ea typeface="Cambria"/>
                <a:cs typeface="Cambria"/>
                <a:sym typeface="Cambria"/>
              </a:rPr>
              <a:t>“</a:t>
            </a:r>
            <a:r>
              <a:rPr lang="en" u="sng">
                <a:solidFill>
                  <a:schemeClr val="dk1"/>
                </a:solidFill>
                <a:latin typeface="Cambria"/>
                <a:ea typeface="Cambria"/>
                <a:cs typeface="Cambria"/>
                <a:sym typeface="Cambria"/>
              </a:rPr>
              <a:t>By college students, For college students</a:t>
            </a:r>
            <a:r>
              <a:rPr lang="en">
                <a:solidFill>
                  <a:schemeClr val="dk1"/>
                </a:solidFill>
                <a:latin typeface="Cambria"/>
                <a:ea typeface="Cambria"/>
                <a:cs typeface="Cambria"/>
                <a:sym typeface="Cambria"/>
              </a:rPr>
              <a:t>”</a:t>
            </a:r>
            <a:endParaRPr>
              <a:solidFill>
                <a:schemeClr val="dk1"/>
              </a:solidFill>
              <a:latin typeface="Cambria"/>
              <a:ea typeface="Cambria"/>
              <a:cs typeface="Cambria"/>
              <a:sym typeface="Cambria"/>
            </a:endParaRPr>
          </a:p>
          <a:p>
            <a:pPr indent="0" lvl="0" marL="0" rtl="0" algn="l">
              <a:spcBef>
                <a:spcPts val="1200"/>
              </a:spcBef>
              <a:spcAft>
                <a:spcPts val="0"/>
              </a:spcAft>
              <a:buNone/>
            </a:pPr>
            <a:r>
              <a:rPr lang="en">
                <a:solidFill>
                  <a:schemeClr val="dk1"/>
                </a:solidFill>
                <a:latin typeface="Cambria"/>
                <a:ea typeface="Cambria"/>
                <a:cs typeface="Cambria"/>
                <a:sym typeface="Cambria"/>
              </a:rPr>
              <a:t>Convenient access (all on campus)</a:t>
            </a:r>
            <a:endParaRPr>
              <a:solidFill>
                <a:schemeClr val="dk1"/>
              </a:solidFill>
              <a:latin typeface="Cambria"/>
              <a:ea typeface="Cambria"/>
              <a:cs typeface="Cambria"/>
              <a:sym typeface="Cambria"/>
            </a:endParaRPr>
          </a:p>
          <a:p>
            <a:pPr indent="0" lvl="0" marL="0" rtl="0" algn="l">
              <a:spcBef>
                <a:spcPts val="1200"/>
              </a:spcBef>
              <a:spcAft>
                <a:spcPts val="0"/>
              </a:spcAft>
              <a:buNone/>
            </a:pPr>
            <a:r>
              <a:rPr lang="en">
                <a:solidFill>
                  <a:schemeClr val="dk1"/>
                </a:solidFill>
                <a:latin typeface="Cambria"/>
                <a:ea typeface="Cambria"/>
                <a:cs typeface="Cambria"/>
                <a:sym typeface="Cambria"/>
              </a:rPr>
              <a:t>More student orientated </a:t>
            </a:r>
            <a:endParaRPr>
              <a:solidFill>
                <a:schemeClr val="dk1"/>
              </a:solidFill>
              <a:latin typeface="Cambria"/>
              <a:ea typeface="Cambria"/>
              <a:cs typeface="Cambria"/>
              <a:sym typeface="Cambria"/>
            </a:endParaRPr>
          </a:p>
          <a:p>
            <a:pPr indent="0" lvl="0" marL="0" rtl="0" algn="l">
              <a:spcBef>
                <a:spcPts val="1200"/>
              </a:spcBef>
              <a:spcAft>
                <a:spcPts val="0"/>
              </a:spcAft>
              <a:buNone/>
            </a:pPr>
            <a:r>
              <a:rPr lang="en">
                <a:solidFill>
                  <a:schemeClr val="dk1"/>
                </a:solidFill>
                <a:latin typeface="Cambria"/>
                <a:ea typeface="Cambria"/>
                <a:cs typeface="Cambria"/>
                <a:sym typeface="Cambria"/>
              </a:rPr>
              <a:t>Make the website extremely easy </a:t>
            </a:r>
            <a:endParaRPr>
              <a:solidFill>
                <a:schemeClr val="dk1"/>
              </a:solidFill>
              <a:latin typeface="Cambria"/>
              <a:ea typeface="Cambria"/>
              <a:cs typeface="Cambria"/>
              <a:sym typeface="Cambria"/>
            </a:endParaRPr>
          </a:p>
          <a:p>
            <a:pPr indent="0" lvl="0" marL="0" rtl="0" algn="l">
              <a:spcBef>
                <a:spcPts val="1200"/>
              </a:spcBef>
              <a:spcAft>
                <a:spcPts val="1200"/>
              </a:spcAft>
              <a:buNone/>
            </a:pPr>
            <a:r>
              <a:rPr lang="en">
                <a:solidFill>
                  <a:schemeClr val="dk1"/>
                </a:solidFill>
                <a:latin typeface="Cambria"/>
                <a:ea typeface="Cambria"/>
                <a:cs typeface="Cambria"/>
                <a:sym typeface="Cambria"/>
              </a:rPr>
              <a:t>Creates a trustworthy environment—Safer and cheaper than other competitors </a:t>
            </a:r>
            <a:endParaRPr>
              <a:solidFill>
                <a:schemeClr val="dk1"/>
              </a:solidFill>
              <a:latin typeface="Cambria"/>
              <a:ea typeface="Cambria"/>
              <a:cs typeface="Cambria"/>
              <a:sym typeface="Cambria"/>
            </a:endParaRPr>
          </a:p>
        </p:txBody>
      </p:sp>
      <p:sp>
        <p:nvSpPr>
          <p:cNvPr id="147" name="Google Shape;147;p27"/>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7"/>
          <p:cNvSpPr txBox="1"/>
          <p:nvPr>
            <p:ph type="title"/>
          </p:nvPr>
        </p:nvSpPr>
        <p:spPr>
          <a:xfrm>
            <a:off x="-12" y="861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chemeClr val="lt1"/>
                </a:solidFill>
                <a:latin typeface="Playfair Display"/>
                <a:ea typeface="Playfair Display"/>
                <a:cs typeface="Playfair Display"/>
                <a:sym typeface="Playfair Display"/>
              </a:rPr>
              <a:t>Customer Value Proposition</a:t>
            </a:r>
            <a:endParaRPr sz="3020">
              <a:solidFill>
                <a:schemeClr val="lt1"/>
              </a:solidFill>
              <a:latin typeface="Playfair Display"/>
              <a:ea typeface="Playfair Display"/>
              <a:cs typeface="Playfair Display"/>
              <a:sym typeface="Playfair Display"/>
            </a:endParaRPr>
          </a:p>
        </p:txBody>
      </p:sp>
      <p:pic>
        <p:nvPicPr>
          <p:cNvPr id="149" name="Google Shape;149;p27"/>
          <p:cNvPicPr preferRelativeResize="0"/>
          <p:nvPr/>
        </p:nvPicPr>
        <p:blipFill>
          <a:blip r:embed="rId3">
            <a:alphaModFix/>
          </a:blip>
          <a:stretch>
            <a:fillRect/>
          </a:stretch>
        </p:blipFill>
        <p:spPr>
          <a:xfrm>
            <a:off x="6669625" y="943175"/>
            <a:ext cx="2162676" cy="1997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53" name="Shape 153"/>
        <p:cNvGrpSpPr/>
        <p:nvPr/>
      </p:nvGrpSpPr>
      <p:grpSpPr>
        <a:xfrm>
          <a:off x="0" y="0"/>
          <a:ext cx="0" cy="0"/>
          <a:chOff x="0" y="0"/>
          <a:chExt cx="0" cy="0"/>
        </a:xfrm>
      </p:grpSpPr>
      <p:sp>
        <p:nvSpPr>
          <p:cNvPr id="154" name="Google Shape;15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solidFill>
                  <a:schemeClr val="dk1"/>
                </a:solidFill>
                <a:latin typeface="Cambria"/>
                <a:ea typeface="Cambria"/>
                <a:cs typeface="Cambria"/>
                <a:sym typeface="Cambria"/>
              </a:rPr>
              <a:t>Vision statement:</a:t>
            </a:r>
            <a:r>
              <a:rPr lang="en">
                <a:solidFill>
                  <a:schemeClr val="dk1"/>
                </a:solidFill>
                <a:latin typeface="Cambria"/>
                <a:ea typeface="Cambria"/>
                <a:cs typeface="Cambria"/>
                <a:sym typeface="Cambria"/>
              </a:rPr>
              <a:t> Become the first place students go to look for affordable goods</a:t>
            </a:r>
            <a:endParaRPr>
              <a:solidFill>
                <a:schemeClr val="dk1"/>
              </a:solidFill>
              <a:latin typeface="Cambria"/>
              <a:ea typeface="Cambria"/>
              <a:cs typeface="Cambria"/>
              <a:sym typeface="Cambria"/>
            </a:endParaRPr>
          </a:p>
          <a:p>
            <a:pPr indent="0" lvl="0" marL="0" rtl="0" algn="l">
              <a:spcBef>
                <a:spcPts val="1200"/>
              </a:spcBef>
              <a:spcAft>
                <a:spcPts val="0"/>
              </a:spcAft>
              <a:buNone/>
            </a:pPr>
            <a:r>
              <a:rPr lang="en">
                <a:solidFill>
                  <a:schemeClr val="dk1"/>
                </a:solidFill>
                <a:latin typeface="Cambria"/>
                <a:ea typeface="Cambria"/>
                <a:cs typeface="Cambria"/>
                <a:sym typeface="Cambria"/>
              </a:rPr>
              <a:t>Our </a:t>
            </a:r>
            <a:r>
              <a:rPr b="1" lang="en">
                <a:solidFill>
                  <a:schemeClr val="dk1"/>
                </a:solidFill>
                <a:latin typeface="Cambria"/>
                <a:ea typeface="Cambria"/>
                <a:cs typeface="Cambria"/>
                <a:sym typeface="Cambria"/>
              </a:rPr>
              <a:t>mission </a:t>
            </a:r>
            <a:r>
              <a:rPr lang="en">
                <a:solidFill>
                  <a:schemeClr val="dk1"/>
                </a:solidFill>
                <a:latin typeface="Cambria"/>
                <a:ea typeface="Cambria"/>
                <a:cs typeface="Cambria"/>
                <a:sym typeface="Cambria"/>
              </a:rPr>
              <a:t>is to serve students by offering fair and transparent pawn and resale services for authentic everyday items such as electronics, textbooks, and personal goods. We aim to provide short-term financial support and affordable purchasing.</a:t>
            </a:r>
            <a:endParaRPr>
              <a:solidFill>
                <a:schemeClr val="dk1"/>
              </a:solidFill>
              <a:latin typeface="Cambria"/>
              <a:ea typeface="Cambria"/>
              <a:cs typeface="Cambria"/>
              <a:sym typeface="Cambria"/>
            </a:endParaRPr>
          </a:p>
          <a:p>
            <a:pPr indent="0" lvl="0" marL="0" rtl="0" algn="l">
              <a:spcBef>
                <a:spcPts val="1200"/>
              </a:spcBef>
              <a:spcAft>
                <a:spcPts val="0"/>
              </a:spcAft>
              <a:buNone/>
            </a:pPr>
            <a:r>
              <a:rPr lang="en">
                <a:solidFill>
                  <a:schemeClr val="dk1"/>
                </a:solidFill>
                <a:latin typeface="Cambria"/>
                <a:ea typeface="Cambria"/>
                <a:cs typeface="Cambria"/>
                <a:sym typeface="Cambria"/>
              </a:rPr>
              <a:t>Some </a:t>
            </a:r>
            <a:r>
              <a:rPr b="1" lang="en">
                <a:solidFill>
                  <a:schemeClr val="dk1"/>
                </a:solidFill>
                <a:latin typeface="Cambria"/>
                <a:ea typeface="Cambria"/>
                <a:cs typeface="Cambria"/>
                <a:sym typeface="Cambria"/>
              </a:rPr>
              <a:t>core values</a:t>
            </a:r>
            <a:r>
              <a:rPr lang="en">
                <a:solidFill>
                  <a:schemeClr val="dk1"/>
                </a:solidFill>
                <a:latin typeface="Cambria"/>
                <a:ea typeface="Cambria"/>
                <a:cs typeface="Cambria"/>
                <a:sym typeface="Cambria"/>
              </a:rPr>
              <a:t> our organization will focus on is the trust we place with our consumers, the authenticity of our products, and our cause-related marketing techniques to ensure the greatest customer satisfaction and value. We will create a trustworthy environment, providing products that are real and authentic</a:t>
            </a:r>
            <a:endParaRPr>
              <a:solidFill>
                <a:schemeClr val="dk1"/>
              </a:solidFill>
              <a:latin typeface="Cambria"/>
              <a:ea typeface="Cambria"/>
              <a:cs typeface="Cambria"/>
              <a:sym typeface="Cambria"/>
            </a:endParaRPr>
          </a:p>
          <a:p>
            <a:pPr indent="0" lvl="0" marL="0" rtl="0" algn="l">
              <a:spcBef>
                <a:spcPts val="1200"/>
              </a:spcBef>
              <a:spcAft>
                <a:spcPts val="1200"/>
              </a:spcAft>
              <a:buNone/>
            </a:pPr>
            <a:r>
              <a:t/>
            </a:r>
            <a:endParaRPr>
              <a:solidFill>
                <a:schemeClr val="dk1"/>
              </a:solidFill>
              <a:latin typeface="Cambria"/>
              <a:ea typeface="Cambria"/>
              <a:cs typeface="Cambria"/>
              <a:sym typeface="Cambria"/>
            </a:endParaRPr>
          </a:p>
        </p:txBody>
      </p:sp>
      <p:sp>
        <p:nvSpPr>
          <p:cNvPr id="155" name="Google Shape;155;p28"/>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28"/>
          <p:cNvSpPr txBox="1"/>
          <p:nvPr>
            <p:ph type="title"/>
          </p:nvPr>
        </p:nvSpPr>
        <p:spPr>
          <a:xfrm>
            <a:off x="52476" y="86100"/>
            <a:ext cx="9040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20">
                <a:solidFill>
                  <a:schemeClr val="lt1"/>
                </a:solidFill>
                <a:latin typeface="Playfair Display"/>
                <a:ea typeface="Playfair Display"/>
                <a:cs typeface="Playfair Display"/>
                <a:sym typeface="Playfair Display"/>
              </a:rPr>
              <a:t>Vision Statement, Mission Statement, Statement of Core Values</a:t>
            </a:r>
            <a:endParaRPr sz="2420">
              <a:solidFill>
                <a:schemeClr val="lt1"/>
              </a:solidFill>
              <a:latin typeface="Playfair Display"/>
              <a:ea typeface="Playfair Display"/>
              <a:cs typeface="Playfair Display"/>
              <a:sym typeface="Playfair Display"/>
            </a:endParaRPr>
          </a:p>
          <a:p>
            <a:pPr indent="0" lvl="0" marL="0" rtl="0" algn="l">
              <a:spcBef>
                <a:spcPts val="0"/>
              </a:spcBef>
              <a:spcAft>
                <a:spcPts val="0"/>
              </a:spcAft>
              <a:buSzPts val="990"/>
              <a:buNone/>
            </a:pPr>
            <a:r>
              <a:t/>
            </a:r>
            <a:endParaRPr sz="2420">
              <a:solidFill>
                <a:schemeClr val="lt1"/>
              </a:solidFill>
              <a:latin typeface="Playfair Display"/>
              <a:ea typeface="Playfair Display"/>
              <a:cs typeface="Playfair Display"/>
              <a:sym typeface="Playfair Display"/>
            </a:endParaRPr>
          </a:p>
          <a:p>
            <a:pPr indent="0" lvl="0" marL="0" rtl="0" algn="l">
              <a:spcBef>
                <a:spcPts val="0"/>
              </a:spcBef>
              <a:spcAft>
                <a:spcPts val="0"/>
              </a:spcAft>
              <a:buSzPts val="990"/>
              <a:buNone/>
            </a:pPr>
            <a:r>
              <a:t/>
            </a:r>
            <a:endParaRPr sz="2420">
              <a:solidFill>
                <a:schemeClr val="lt1"/>
              </a:solidFill>
              <a:latin typeface="Playfair Display"/>
              <a:ea typeface="Playfair Display"/>
              <a:cs typeface="Playfair Display"/>
              <a:sym typeface="Playfair Displ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60" name="Shape 160"/>
        <p:cNvGrpSpPr/>
        <p:nvPr/>
      </p:nvGrpSpPr>
      <p:grpSpPr>
        <a:xfrm>
          <a:off x="0" y="0"/>
          <a:ext cx="0" cy="0"/>
          <a:chOff x="0" y="0"/>
          <a:chExt cx="0" cy="0"/>
        </a:xfrm>
      </p:grpSpPr>
      <p:sp>
        <p:nvSpPr>
          <p:cNvPr id="161" name="Google Shape;161;p29"/>
          <p:cNvSpPr txBox="1"/>
          <p:nvPr>
            <p:ph idx="1" type="body"/>
          </p:nvPr>
        </p:nvSpPr>
        <p:spPr>
          <a:xfrm>
            <a:off x="311700" y="826250"/>
            <a:ext cx="8520600" cy="393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dk1"/>
                </a:solidFill>
                <a:latin typeface="Cambria"/>
                <a:ea typeface="Cambria"/>
                <a:cs typeface="Cambria"/>
                <a:sym typeface="Cambria"/>
              </a:rPr>
              <a:t>Financial:</a:t>
            </a:r>
            <a:endParaRPr u="sng">
              <a:solidFill>
                <a:schemeClr val="dk1"/>
              </a:solidFill>
              <a:latin typeface="Cambria"/>
              <a:ea typeface="Cambria"/>
              <a:cs typeface="Cambria"/>
              <a:sym typeface="Cambria"/>
            </a:endParaRPr>
          </a:p>
          <a:p>
            <a:pPr indent="0" lvl="0" marL="0" rtl="0" algn="l">
              <a:spcBef>
                <a:spcPts val="0"/>
              </a:spcBef>
              <a:spcAft>
                <a:spcPts val="0"/>
              </a:spcAft>
              <a:buNone/>
            </a:pPr>
            <a:r>
              <a:rPr lang="en">
                <a:solidFill>
                  <a:schemeClr val="dk1"/>
                </a:solidFill>
                <a:latin typeface="Cambria"/>
                <a:ea typeface="Cambria"/>
                <a:cs typeface="Cambria"/>
                <a:sym typeface="Cambria"/>
              </a:rPr>
              <a:t>Achieve monthly sales revenue of $2,000 by the end of the first full semester (Fall 2026 semester)</a:t>
            </a:r>
            <a:endParaRPr>
              <a:solidFill>
                <a:schemeClr val="dk1"/>
              </a:solidFill>
              <a:latin typeface="Cambria"/>
              <a:ea typeface="Cambria"/>
              <a:cs typeface="Cambria"/>
              <a:sym typeface="Cambria"/>
            </a:endParaRPr>
          </a:p>
          <a:p>
            <a:pPr indent="0" lvl="0" marL="0" rtl="0" algn="l">
              <a:spcBef>
                <a:spcPts val="0"/>
              </a:spcBef>
              <a:spcAft>
                <a:spcPts val="0"/>
              </a:spcAft>
              <a:buNone/>
            </a:pPr>
            <a:r>
              <a:rPr lang="en" sz="300">
                <a:solidFill>
                  <a:schemeClr val="dk1"/>
                </a:solidFill>
                <a:latin typeface="Cambria"/>
                <a:ea typeface="Cambria"/>
                <a:cs typeface="Cambria"/>
                <a:sym typeface="Cambria"/>
              </a:rPr>
              <a:t>,</a:t>
            </a:r>
            <a:endParaRPr sz="700">
              <a:solidFill>
                <a:schemeClr val="dk1"/>
              </a:solidFill>
              <a:latin typeface="Cambria"/>
              <a:ea typeface="Cambria"/>
              <a:cs typeface="Cambria"/>
              <a:sym typeface="Cambria"/>
            </a:endParaRPr>
          </a:p>
          <a:p>
            <a:pPr indent="0" lvl="0" marL="0" rtl="0" algn="l">
              <a:spcBef>
                <a:spcPts val="0"/>
              </a:spcBef>
              <a:spcAft>
                <a:spcPts val="0"/>
              </a:spcAft>
              <a:buNone/>
            </a:pPr>
            <a:r>
              <a:rPr lang="en">
                <a:solidFill>
                  <a:schemeClr val="dk1"/>
                </a:solidFill>
                <a:latin typeface="Cambria"/>
                <a:ea typeface="Cambria"/>
                <a:cs typeface="Cambria"/>
                <a:sym typeface="Cambria"/>
              </a:rPr>
              <a:t>Reach net income of $10,000 by the end of the fiscal year</a:t>
            </a:r>
            <a:endParaRPr>
              <a:solidFill>
                <a:schemeClr val="dk1"/>
              </a:solidFill>
              <a:latin typeface="Cambria"/>
              <a:ea typeface="Cambria"/>
              <a:cs typeface="Cambria"/>
              <a:sym typeface="Cambria"/>
            </a:endParaRPr>
          </a:p>
          <a:p>
            <a:pPr indent="0" lvl="0" marL="0" rtl="0" algn="l">
              <a:spcBef>
                <a:spcPts val="0"/>
              </a:spcBef>
              <a:spcAft>
                <a:spcPts val="0"/>
              </a:spcAft>
              <a:buNone/>
            </a:pPr>
            <a:r>
              <a:t/>
            </a:r>
            <a:endParaRPr sz="700">
              <a:solidFill>
                <a:schemeClr val="dk1"/>
              </a:solidFill>
              <a:latin typeface="Cambria"/>
              <a:ea typeface="Cambria"/>
              <a:cs typeface="Cambria"/>
              <a:sym typeface="Cambria"/>
            </a:endParaRPr>
          </a:p>
          <a:p>
            <a:pPr indent="0" lvl="0" marL="0" rtl="0" algn="l">
              <a:spcBef>
                <a:spcPts val="0"/>
              </a:spcBef>
              <a:spcAft>
                <a:spcPts val="0"/>
              </a:spcAft>
              <a:buNone/>
            </a:pPr>
            <a:r>
              <a:rPr lang="en">
                <a:solidFill>
                  <a:schemeClr val="dk1"/>
                </a:solidFill>
                <a:latin typeface="Cambria"/>
                <a:ea typeface="Cambria"/>
                <a:cs typeface="Cambria"/>
                <a:sym typeface="Cambria"/>
              </a:rPr>
              <a:t>Control expense costs below 70% of total revenue as our shop is mainly going to be over a website and we take % per item sold</a:t>
            </a:r>
            <a:endParaRPr>
              <a:solidFill>
                <a:schemeClr val="dk1"/>
              </a:solidFill>
              <a:latin typeface="Cambria"/>
              <a:ea typeface="Cambria"/>
              <a:cs typeface="Cambria"/>
              <a:sym typeface="Cambria"/>
            </a:endParaRPr>
          </a:p>
          <a:p>
            <a:pPr indent="0" lvl="0" marL="0" rtl="0" algn="l">
              <a:spcBef>
                <a:spcPts val="0"/>
              </a:spcBef>
              <a:spcAft>
                <a:spcPts val="0"/>
              </a:spcAft>
              <a:buNone/>
            </a:pPr>
            <a:r>
              <a:t/>
            </a:r>
            <a:endParaRPr>
              <a:solidFill>
                <a:schemeClr val="dk1"/>
              </a:solidFill>
              <a:latin typeface="Cambria"/>
              <a:ea typeface="Cambria"/>
              <a:cs typeface="Cambria"/>
              <a:sym typeface="Cambria"/>
            </a:endParaRPr>
          </a:p>
          <a:p>
            <a:pPr indent="0" lvl="0" marL="0" rtl="0" algn="l">
              <a:spcBef>
                <a:spcPts val="0"/>
              </a:spcBef>
              <a:spcAft>
                <a:spcPts val="0"/>
              </a:spcAft>
              <a:buNone/>
            </a:pPr>
            <a:r>
              <a:rPr lang="en" u="sng">
                <a:solidFill>
                  <a:schemeClr val="dk1"/>
                </a:solidFill>
                <a:latin typeface="Cambria"/>
                <a:ea typeface="Cambria"/>
                <a:cs typeface="Cambria"/>
                <a:sym typeface="Cambria"/>
              </a:rPr>
              <a:t>Strategic:</a:t>
            </a:r>
            <a:endParaRPr u="sng">
              <a:solidFill>
                <a:schemeClr val="dk1"/>
              </a:solidFill>
              <a:latin typeface="Cambria"/>
              <a:ea typeface="Cambria"/>
              <a:cs typeface="Cambria"/>
              <a:sym typeface="Cambria"/>
            </a:endParaRPr>
          </a:p>
          <a:p>
            <a:pPr indent="0" lvl="0" marL="0" rtl="0" algn="l">
              <a:spcBef>
                <a:spcPts val="0"/>
              </a:spcBef>
              <a:spcAft>
                <a:spcPts val="0"/>
              </a:spcAft>
              <a:buNone/>
            </a:pPr>
            <a:r>
              <a:rPr lang="en">
                <a:solidFill>
                  <a:schemeClr val="dk1"/>
                </a:solidFill>
                <a:latin typeface="Cambria"/>
                <a:ea typeface="Cambria"/>
                <a:cs typeface="Cambria"/>
                <a:sym typeface="Cambria"/>
              </a:rPr>
              <a:t>Expand to each Rutgers Campus (Newark and Camden expansions) by year end 2026 </a:t>
            </a:r>
            <a:endParaRPr>
              <a:solidFill>
                <a:schemeClr val="dk1"/>
              </a:solidFill>
              <a:latin typeface="Cambria"/>
              <a:ea typeface="Cambria"/>
              <a:cs typeface="Cambria"/>
              <a:sym typeface="Cambria"/>
            </a:endParaRPr>
          </a:p>
          <a:p>
            <a:pPr indent="0" lvl="0" marL="0" rtl="0" algn="l">
              <a:spcBef>
                <a:spcPts val="0"/>
              </a:spcBef>
              <a:spcAft>
                <a:spcPts val="0"/>
              </a:spcAft>
              <a:buNone/>
            </a:pPr>
            <a:r>
              <a:t/>
            </a:r>
            <a:endParaRPr sz="700">
              <a:solidFill>
                <a:schemeClr val="dk1"/>
              </a:solidFill>
              <a:latin typeface="Cambria"/>
              <a:ea typeface="Cambria"/>
              <a:cs typeface="Cambria"/>
              <a:sym typeface="Cambria"/>
            </a:endParaRPr>
          </a:p>
          <a:p>
            <a:pPr indent="0" lvl="0" marL="0" rtl="0" algn="l">
              <a:spcBef>
                <a:spcPts val="0"/>
              </a:spcBef>
              <a:spcAft>
                <a:spcPts val="0"/>
              </a:spcAft>
              <a:buNone/>
            </a:pPr>
            <a:r>
              <a:rPr lang="en">
                <a:solidFill>
                  <a:schemeClr val="dk1"/>
                </a:solidFill>
                <a:latin typeface="Cambria"/>
                <a:ea typeface="Cambria"/>
                <a:cs typeface="Cambria"/>
                <a:sym typeface="Cambria"/>
              </a:rPr>
              <a:t>Reach an average of 100 customers monthly by the end of the fiscal year</a:t>
            </a:r>
            <a:endParaRPr>
              <a:solidFill>
                <a:schemeClr val="dk1"/>
              </a:solidFill>
              <a:latin typeface="Cambria"/>
              <a:ea typeface="Cambria"/>
              <a:cs typeface="Cambria"/>
              <a:sym typeface="Cambria"/>
            </a:endParaRPr>
          </a:p>
          <a:p>
            <a:pPr indent="0" lvl="0" marL="0" rtl="0" algn="l">
              <a:spcBef>
                <a:spcPts val="0"/>
              </a:spcBef>
              <a:spcAft>
                <a:spcPts val="0"/>
              </a:spcAft>
              <a:buNone/>
            </a:pPr>
            <a:r>
              <a:t/>
            </a:r>
            <a:endParaRPr sz="700">
              <a:solidFill>
                <a:schemeClr val="dk1"/>
              </a:solidFill>
              <a:latin typeface="Cambria"/>
              <a:ea typeface="Cambria"/>
              <a:cs typeface="Cambria"/>
              <a:sym typeface="Cambria"/>
            </a:endParaRPr>
          </a:p>
          <a:p>
            <a:pPr indent="0" lvl="0" marL="0" rtl="0" algn="l">
              <a:spcBef>
                <a:spcPts val="0"/>
              </a:spcBef>
              <a:spcAft>
                <a:spcPts val="0"/>
              </a:spcAft>
              <a:buNone/>
            </a:pPr>
            <a:r>
              <a:rPr lang="en">
                <a:solidFill>
                  <a:schemeClr val="dk1"/>
                </a:solidFill>
                <a:latin typeface="Cambria"/>
                <a:ea typeface="Cambria"/>
                <a:cs typeface="Cambria"/>
                <a:sym typeface="Cambria"/>
              </a:rPr>
              <a:t>Reach social media marketing accounts (Tiktok, Instagram, and Facebook) to 5,000 followers by the beginning of the fall semester</a:t>
            </a:r>
            <a:endParaRPr>
              <a:solidFill>
                <a:schemeClr val="dk1"/>
              </a:solidFill>
              <a:latin typeface="Cambria"/>
              <a:ea typeface="Cambria"/>
              <a:cs typeface="Cambria"/>
              <a:sym typeface="Cambria"/>
            </a:endParaRPr>
          </a:p>
        </p:txBody>
      </p:sp>
      <p:sp>
        <p:nvSpPr>
          <p:cNvPr id="162" name="Google Shape;162;p29"/>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29"/>
          <p:cNvSpPr txBox="1"/>
          <p:nvPr>
            <p:ph type="title"/>
          </p:nvPr>
        </p:nvSpPr>
        <p:spPr>
          <a:xfrm>
            <a:off x="52463" y="861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chemeClr val="lt1"/>
                </a:solidFill>
                <a:latin typeface="Playfair Display"/>
                <a:ea typeface="Playfair Display"/>
                <a:cs typeface="Playfair Display"/>
                <a:sym typeface="Playfair Display"/>
              </a:rPr>
              <a:t>Financial and Strategic Objectives</a:t>
            </a:r>
            <a:endParaRPr sz="3020">
              <a:solidFill>
                <a:schemeClr val="lt1"/>
              </a:solidFill>
              <a:latin typeface="Playfair Display"/>
              <a:ea typeface="Playfair Display"/>
              <a:cs typeface="Playfair Display"/>
              <a:sym typeface="Playfair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67" name="Shape 167"/>
        <p:cNvGrpSpPr/>
        <p:nvPr/>
      </p:nvGrpSpPr>
      <p:grpSpPr>
        <a:xfrm>
          <a:off x="0" y="0"/>
          <a:ext cx="0" cy="0"/>
          <a:chOff x="0" y="0"/>
          <a:chExt cx="0" cy="0"/>
        </a:xfrm>
      </p:grpSpPr>
      <p:sp>
        <p:nvSpPr>
          <p:cNvPr id="168" name="Google Shape;168;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Cambria"/>
                <a:ea typeface="Cambria"/>
                <a:cs typeface="Cambria"/>
                <a:sym typeface="Cambria"/>
              </a:rPr>
              <a:t>Community Give-Back Program</a:t>
            </a:r>
            <a:r>
              <a:rPr lang="en">
                <a:solidFill>
                  <a:schemeClr val="dk1"/>
                </a:solidFill>
                <a:latin typeface="Cambria"/>
                <a:ea typeface="Cambria"/>
                <a:cs typeface="Cambria"/>
                <a:sym typeface="Cambria"/>
              </a:rPr>
              <a:t>: Donate unclaimed items to local nonprofits. Shows social responsibility, strengthens community relationships and counters negativity we could face.</a:t>
            </a:r>
            <a:endParaRPr>
              <a:solidFill>
                <a:schemeClr val="dk1"/>
              </a:solidFill>
              <a:latin typeface="Cambria"/>
              <a:ea typeface="Cambria"/>
              <a:cs typeface="Cambria"/>
              <a:sym typeface="Cambria"/>
            </a:endParaRPr>
          </a:p>
          <a:p>
            <a:pPr indent="0" lvl="0" marL="0" rtl="0" algn="l">
              <a:spcBef>
                <a:spcPts val="1200"/>
              </a:spcBef>
              <a:spcAft>
                <a:spcPts val="0"/>
              </a:spcAft>
              <a:buNone/>
            </a:pPr>
            <a:r>
              <a:rPr b="1" lang="en">
                <a:solidFill>
                  <a:schemeClr val="dk1"/>
                </a:solidFill>
                <a:latin typeface="Cambria"/>
                <a:ea typeface="Cambria"/>
                <a:cs typeface="Cambria"/>
                <a:sym typeface="Cambria"/>
              </a:rPr>
              <a:t>Make sure our business is eco-friendly</a:t>
            </a:r>
            <a:r>
              <a:rPr lang="en">
                <a:solidFill>
                  <a:schemeClr val="dk1"/>
                </a:solidFill>
                <a:latin typeface="Cambria"/>
                <a:ea typeface="Cambria"/>
                <a:cs typeface="Cambria"/>
                <a:sym typeface="Cambria"/>
              </a:rPr>
              <a:t>: Whether it be the transport method or the products we sell, we ensure everything is eco-friendly which is an easy way to show we care about that customer base. </a:t>
            </a:r>
            <a:endParaRPr>
              <a:solidFill>
                <a:schemeClr val="dk1"/>
              </a:solidFill>
              <a:latin typeface="Cambria"/>
              <a:ea typeface="Cambria"/>
              <a:cs typeface="Cambria"/>
              <a:sym typeface="Cambria"/>
            </a:endParaRPr>
          </a:p>
          <a:p>
            <a:pPr indent="0" lvl="0" marL="0" rtl="0" algn="l">
              <a:spcBef>
                <a:spcPts val="1200"/>
              </a:spcBef>
              <a:spcAft>
                <a:spcPts val="0"/>
              </a:spcAft>
              <a:buNone/>
            </a:pPr>
            <a:r>
              <a:rPr b="1" lang="en">
                <a:solidFill>
                  <a:schemeClr val="dk1"/>
                </a:solidFill>
                <a:latin typeface="Cambria"/>
                <a:ea typeface="Cambria"/>
                <a:cs typeface="Cambria"/>
                <a:sym typeface="Cambria"/>
              </a:rPr>
              <a:t>Make sure our business is ethical and fair in our pricing</a:t>
            </a:r>
            <a:r>
              <a:rPr lang="en">
                <a:solidFill>
                  <a:schemeClr val="dk1"/>
                </a:solidFill>
                <a:latin typeface="Cambria"/>
                <a:ea typeface="Cambria"/>
                <a:cs typeface="Cambria"/>
                <a:sym typeface="Cambria"/>
              </a:rPr>
              <a:t>: We’re going to ensure our pricing is fair for students as most college students don’t have money to be throwing around.</a:t>
            </a:r>
            <a:endParaRPr>
              <a:solidFill>
                <a:schemeClr val="dk1"/>
              </a:solidFill>
              <a:latin typeface="Cambria"/>
              <a:ea typeface="Cambria"/>
              <a:cs typeface="Cambria"/>
              <a:sym typeface="Cambria"/>
            </a:endParaRPr>
          </a:p>
          <a:p>
            <a:pPr indent="0" lvl="0" marL="0" rtl="0" algn="l">
              <a:spcBef>
                <a:spcPts val="1200"/>
              </a:spcBef>
              <a:spcAft>
                <a:spcPts val="1200"/>
              </a:spcAft>
              <a:buNone/>
            </a:pPr>
            <a:r>
              <a:t/>
            </a:r>
            <a:endParaRPr>
              <a:solidFill>
                <a:schemeClr val="dk1"/>
              </a:solidFill>
              <a:latin typeface="Cambria"/>
              <a:ea typeface="Cambria"/>
              <a:cs typeface="Cambria"/>
              <a:sym typeface="Cambria"/>
            </a:endParaRPr>
          </a:p>
        </p:txBody>
      </p:sp>
      <p:sp>
        <p:nvSpPr>
          <p:cNvPr id="169" name="Google Shape;169;p30"/>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30"/>
          <p:cNvSpPr txBox="1"/>
          <p:nvPr>
            <p:ph type="title"/>
          </p:nvPr>
        </p:nvSpPr>
        <p:spPr>
          <a:xfrm>
            <a:off x="52476" y="86100"/>
            <a:ext cx="8975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solidFill>
                  <a:schemeClr val="lt1"/>
                </a:solidFill>
                <a:latin typeface="Playfair Display"/>
                <a:ea typeface="Playfair Display"/>
                <a:cs typeface="Playfair Display"/>
                <a:sym typeface="Playfair Display"/>
              </a:rPr>
              <a:t>Corporate Social Responsibility Key Initiatives and Rationale</a:t>
            </a:r>
            <a:endParaRPr sz="2520">
              <a:solidFill>
                <a:schemeClr val="lt1"/>
              </a:solidFill>
              <a:latin typeface="Playfair Display"/>
              <a:ea typeface="Playfair Display"/>
              <a:cs typeface="Playfair Display"/>
              <a:sym typeface="Playfair Display"/>
            </a:endParaRPr>
          </a:p>
          <a:p>
            <a:pPr indent="0" lvl="0" marL="0" rtl="0" algn="l">
              <a:spcBef>
                <a:spcPts val="0"/>
              </a:spcBef>
              <a:spcAft>
                <a:spcPts val="0"/>
              </a:spcAft>
              <a:buSzPts val="990"/>
              <a:buNone/>
            </a:pPr>
            <a:r>
              <a:t/>
            </a:r>
            <a:endParaRPr sz="2520">
              <a:solidFill>
                <a:schemeClr val="lt1"/>
              </a:solidFill>
              <a:latin typeface="Playfair Display"/>
              <a:ea typeface="Playfair Display"/>
              <a:cs typeface="Playfair Display"/>
              <a:sym typeface="Playfair Displ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74" name="Shape 174"/>
        <p:cNvGrpSpPr/>
        <p:nvPr/>
      </p:nvGrpSpPr>
      <p:grpSpPr>
        <a:xfrm>
          <a:off x="0" y="0"/>
          <a:ext cx="0" cy="0"/>
          <a:chOff x="0" y="0"/>
          <a:chExt cx="0" cy="0"/>
        </a:xfrm>
      </p:grpSpPr>
      <p:sp>
        <p:nvSpPr>
          <p:cNvPr id="175" name="Google Shape;175;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Cambria"/>
                <a:ea typeface="Cambria"/>
                <a:cs typeface="Cambria"/>
                <a:sym typeface="Cambria"/>
              </a:rPr>
              <a:t>A </a:t>
            </a:r>
            <a:r>
              <a:rPr b="1" lang="en">
                <a:solidFill>
                  <a:schemeClr val="dk1"/>
                </a:solidFill>
                <a:latin typeface="Cambria"/>
                <a:ea typeface="Cambria"/>
                <a:cs typeface="Cambria"/>
                <a:sym typeface="Cambria"/>
              </a:rPr>
              <a:t>bundle kit</a:t>
            </a:r>
            <a:r>
              <a:rPr lang="en">
                <a:solidFill>
                  <a:schemeClr val="dk1"/>
                </a:solidFill>
                <a:latin typeface="Cambria"/>
                <a:ea typeface="Cambria"/>
                <a:cs typeface="Cambria"/>
                <a:sym typeface="Cambria"/>
              </a:rPr>
              <a:t> for students coming into dorms might be a good venture for us to go into. </a:t>
            </a:r>
            <a:endParaRPr>
              <a:solidFill>
                <a:schemeClr val="dk1"/>
              </a:solidFill>
              <a:latin typeface="Cambria"/>
              <a:ea typeface="Cambria"/>
              <a:cs typeface="Cambria"/>
              <a:sym typeface="Cambria"/>
            </a:endParaRPr>
          </a:p>
          <a:p>
            <a:pPr indent="0" lvl="0" marL="0" rtl="0" algn="l">
              <a:spcBef>
                <a:spcPts val="1200"/>
              </a:spcBef>
              <a:spcAft>
                <a:spcPts val="0"/>
              </a:spcAft>
              <a:buNone/>
            </a:pPr>
            <a:r>
              <a:rPr lang="en" sz="1500">
                <a:solidFill>
                  <a:schemeClr val="dk1"/>
                </a:solidFill>
                <a:latin typeface="Cambria"/>
                <a:ea typeface="Cambria"/>
                <a:cs typeface="Cambria"/>
                <a:sym typeface="Cambria"/>
              </a:rPr>
              <a:t>We can rely on </a:t>
            </a:r>
            <a:endParaRPr sz="1500">
              <a:solidFill>
                <a:schemeClr val="dk1"/>
              </a:solidFill>
              <a:latin typeface="Cambria"/>
              <a:ea typeface="Cambria"/>
              <a:cs typeface="Cambria"/>
              <a:sym typeface="Cambria"/>
            </a:endParaRPr>
          </a:p>
          <a:p>
            <a:pPr indent="-323850" lvl="0" marL="457200" rtl="0" algn="l">
              <a:spcBef>
                <a:spcPts val="120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Use items sold in the previous semester to create a bundled package for incoming students</a:t>
            </a:r>
            <a:endParaRPr sz="1500">
              <a:solidFill>
                <a:schemeClr val="dk1"/>
              </a:solidFill>
              <a:latin typeface="Cambria"/>
              <a:ea typeface="Cambria"/>
              <a:cs typeface="Cambria"/>
              <a:sym typeface="Cambria"/>
            </a:endParaRPr>
          </a:p>
          <a:p>
            <a:pPr indent="-323850" lvl="0" marL="457200" rtl="0" algn="l">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Have the bundle ready and set up before students arrive</a:t>
            </a:r>
            <a:endParaRPr sz="1500">
              <a:solidFill>
                <a:schemeClr val="dk1"/>
              </a:solidFill>
              <a:latin typeface="Cambria"/>
              <a:ea typeface="Cambria"/>
              <a:cs typeface="Cambria"/>
              <a:sym typeface="Cambria"/>
            </a:endParaRPr>
          </a:p>
          <a:p>
            <a:pPr indent="-323850" lvl="0" marL="457200" rtl="0" algn="l">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Saves students time by eliminating the need to shop for each item individually</a:t>
            </a:r>
            <a:endParaRPr sz="1500">
              <a:solidFill>
                <a:schemeClr val="dk1"/>
              </a:solidFill>
              <a:latin typeface="Cambria"/>
              <a:ea typeface="Cambria"/>
              <a:cs typeface="Cambria"/>
              <a:sym typeface="Cambria"/>
            </a:endParaRPr>
          </a:p>
          <a:p>
            <a:pPr indent="-323850" lvl="0" marL="457200" rtl="0" algn="l">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Offers added convenience, allowing for slightly higher pricing</a:t>
            </a:r>
            <a:endParaRPr sz="1500">
              <a:solidFill>
                <a:schemeClr val="dk1"/>
              </a:solidFill>
              <a:latin typeface="Cambria"/>
              <a:ea typeface="Cambria"/>
              <a:cs typeface="Cambria"/>
              <a:sym typeface="Cambria"/>
            </a:endParaRPr>
          </a:p>
          <a:p>
            <a:pPr indent="-323850" lvl="0" marL="457200" rtl="0" algn="l">
              <a:spcBef>
                <a:spcPts val="0"/>
              </a:spcBef>
              <a:spcAft>
                <a:spcPts val="0"/>
              </a:spcAft>
              <a:buClr>
                <a:schemeClr val="dk1"/>
              </a:buClr>
              <a:buSzPts val="1500"/>
              <a:buFont typeface="Cambria"/>
              <a:buChar char="●"/>
            </a:pPr>
            <a:r>
              <a:rPr lang="en" sz="1500">
                <a:solidFill>
                  <a:schemeClr val="dk1"/>
                </a:solidFill>
                <a:latin typeface="Cambria"/>
                <a:ea typeface="Cambria"/>
                <a:cs typeface="Cambria"/>
                <a:sym typeface="Cambria"/>
              </a:rPr>
              <a:t>Ensures profitability while providing a streamlined experience for students</a:t>
            </a:r>
            <a:endParaRPr sz="1500">
              <a:solidFill>
                <a:schemeClr val="dk1"/>
              </a:solidFill>
              <a:latin typeface="Cambria"/>
              <a:ea typeface="Cambria"/>
              <a:cs typeface="Cambria"/>
              <a:sym typeface="Cambria"/>
            </a:endParaRPr>
          </a:p>
        </p:txBody>
      </p:sp>
      <p:sp>
        <p:nvSpPr>
          <p:cNvPr id="176" name="Google Shape;176;p31"/>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31"/>
          <p:cNvSpPr txBox="1"/>
          <p:nvPr>
            <p:ph type="title"/>
          </p:nvPr>
        </p:nvSpPr>
        <p:spPr>
          <a:xfrm>
            <a:off x="52476" y="86100"/>
            <a:ext cx="8975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20">
                <a:solidFill>
                  <a:schemeClr val="lt1"/>
                </a:solidFill>
                <a:latin typeface="Playfair Display"/>
                <a:ea typeface="Playfair Display"/>
                <a:cs typeface="Playfair Display"/>
                <a:sym typeface="Playfair Display"/>
              </a:rPr>
              <a:t>Description of New Product/Service selected by the team</a:t>
            </a:r>
            <a:endParaRPr sz="2620">
              <a:solidFill>
                <a:schemeClr val="lt1"/>
              </a:solidFill>
              <a:latin typeface="Playfair Display"/>
              <a:ea typeface="Playfair Display"/>
              <a:cs typeface="Playfair Display"/>
              <a:sym typeface="Playfair Display"/>
            </a:endParaRPr>
          </a:p>
        </p:txBody>
      </p:sp>
      <p:pic>
        <p:nvPicPr>
          <p:cNvPr id="178" name="Google Shape;178;p31"/>
          <p:cNvPicPr preferRelativeResize="0"/>
          <p:nvPr/>
        </p:nvPicPr>
        <p:blipFill>
          <a:blip r:embed="rId3">
            <a:alphaModFix/>
          </a:blip>
          <a:stretch>
            <a:fillRect/>
          </a:stretch>
        </p:blipFill>
        <p:spPr>
          <a:xfrm>
            <a:off x="7002775" y="3684625"/>
            <a:ext cx="2141224" cy="14588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82" name="Shape 182"/>
        <p:cNvGrpSpPr/>
        <p:nvPr/>
      </p:nvGrpSpPr>
      <p:grpSpPr>
        <a:xfrm>
          <a:off x="0" y="0"/>
          <a:ext cx="0" cy="0"/>
          <a:chOff x="0" y="0"/>
          <a:chExt cx="0" cy="0"/>
        </a:xfrm>
      </p:grpSpPr>
      <p:sp>
        <p:nvSpPr>
          <p:cNvPr id="183" name="Google Shape;183;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Cambria"/>
                <a:ea typeface="Cambria"/>
                <a:cs typeface="Cambria"/>
                <a:sym typeface="Cambria"/>
              </a:rPr>
              <a:t>Yes</a:t>
            </a:r>
            <a:r>
              <a:rPr lang="en">
                <a:solidFill>
                  <a:schemeClr val="dk1"/>
                </a:solidFill>
                <a:latin typeface="Cambria"/>
                <a:ea typeface="Cambria"/>
                <a:cs typeface="Cambria"/>
                <a:sym typeface="Cambria"/>
              </a:rPr>
              <a:t>—Expanding nationally might be a major opportunity for us, we should wait at least till the end of the fall semester in the later 2026 before we consider expansion. </a:t>
            </a:r>
            <a:endParaRPr>
              <a:solidFill>
                <a:schemeClr val="dk1"/>
              </a:solidFill>
              <a:latin typeface="Cambria"/>
              <a:ea typeface="Cambria"/>
              <a:cs typeface="Cambria"/>
              <a:sym typeface="Cambria"/>
            </a:endParaRPr>
          </a:p>
          <a:p>
            <a:pPr indent="0" lvl="0" marL="0" rtl="0" algn="l">
              <a:spcBef>
                <a:spcPts val="1200"/>
              </a:spcBef>
              <a:spcAft>
                <a:spcPts val="0"/>
              </a:spcAft>
              <a:buNone/>
            </a:pPr>
            <a:r>
              <a:rPr lang="en">
                <a:solidFill>
                  <a:schemeClr val="dk1"/>
                </a:solidFill>
                <a:latin typeface="Cambria"/>
                <a:ea typeface="Cambria"/>
                <a:cs typeface="Cambria"/>
                <a:sym typeface="Cambria"/>
              </a:rPr>
              <a:t>This: </a:t>
            </a:r>
            <a:endParaRPr>
              <a:solidFill>
                <a:schemeClr val="dk1"/>
              </a:solidFill>
              <a:latin typeface="Cambria"/>
              <a:ea typeface="Cambria"/>
              <a:cs typeface="Cambria"/>
              <a:sym typeface="Cambria"/>
            </a:endParaRPr>
          </a:p>
          <a:p>
            <a:pPr indent="-342900" lvl="0" marL="457200" rtl="0" algn="l">
              <a:spcBef>
                <a:spcPts val="1200"/>
              </a:spcBef>
              <a:spcAft>
                <a:spcPts val="0"/>
              </a:spcAft>
              <a:buClr>
                <a:schemeClr val="dk1"/>
              </a:buClr>
              <a:buSzPts val="1800"/>
              <a:buFont typeface="Cambria"/>
              <a:buChar char="●"/>
            </a:pPr>
            <a:r>
              <a:rPr lang="en">
                <a:solidFill>
                  <a:schemeClr val="dk1"/>
                </a:solidFill>
                <a:latin typeface="Cambria"/>
                <a:ea typeface="Cambria"/>
                <a:cs typeface="Cambria"/>
                <a:sym typeface="Cambria"/>
              </a:rPr>
              <a:t>Allows time to test the business and gain hands-on experience</a:t>
            </a:r>
            <a:endParaRPr>
              <a:solidFill>
                <a:schemeClr val="dk1"/>
              </a:solidFill>
              <a:latin typeface="Cambria"/>
              <a:ea typeface="Cambria"/>
              <a:cs typeface="Cambria"/>
              <a:sym typeface="Cambria"/>
            </a:endParaRPr>
          </a:p>
          <a:p>
            <a:pPr indent="-342900" lvl="0" marL="457200" rtl="0" algn="l">
              <a:spcBef>
                <a:spcPts val="0"/>
              </a:spcBef>
              <a:spcAft>
                <a:spcPts val="0"/>
              </a:spcAft>
              <a:buClr>
                <a:schemeClr val="dk1"/>
              </a:buClr>
              <a:buSzPts val="1800"/>
              <a:buFont typeface="Cambria"/>
              <a:buChar char="●"/>
            </a:pPr>
            <a:r>
              <a:rPr lang="en">
                <a:solidFill>
                  <a:schemeClr val="dk1"/>
                </a:solidFill>
                <a:latin typeface="Cambria"/>
                <a:ea typeface="Cambria"/>
                <a:cs typeface="Cambria"/>
                <a:sym typeface="Cambria"/>
              </a:rPr>
              <a:t>Helps Learn the process at the end of spring semester and start of fall semester</a:t>
            </a:r>
            <a:endParaRPr>
              <a:solidFill>
                <a:schemeClr val="dk1"/>
              </a:solidFill>
              <a:latin typeface="Cambria"/>
              <a:ea typeface="Cambria"/>
              <a:cs typeface="Cambria"/>
              <a:sym typeface="Cambria"/>
            </a:endParaRPr>
          </a:p>
          <a:p>
            <a:pPr indent="0" lvl="0" marL="0" rtl="0" algn="l">
              <a:spcBef>
                <a:spcPts val="1200"/>
              </a:spcBef>
              <a:spcAft>
                <a:spcPts val="0"/>
              </a:spcAft>
              <a:buNone/>
            </a:pPr>
            <a:r>
              <a:rPr lang="en">
                <a:solidFill>
                  <a:schemeClr val="dk1"/>
                </a:solidFill>
                <a:latin typeface="Cambria"/>
                <a:ea typeface="Cambria"/>
                <a:cs typeface="Cambria"/>
                <a:sym typeface="Cambria"/>
              </a:rPr>
              <a:t>We should wait to fully manage both key periods before expanding</a:t>
            </a:r>
            <a:endParaRPr>
              <a:solidFill>
                <a:schemeClr val="dk1"/>
              </a:solidFill>
              <a:latin typeface="Cambria"/>
              <a:ea typeface="Cambria"/>
              <a:cs typeface="Cambria"/>
              <a:sym typeface="Cambria"/>
            </a:endParaRPr>
          </a:p>
          <a:p>
            <a:pPr indent="-342900" lvl="0" marL="457200" rtl="0" algn="l">
              <a:spcBef>
                <a:spcPts val="1200"/>
              </a:spcBef>
              <a:spcAft>
                <a:spcPts val="0"/>
              </a:spcAft>
              <a:buClr>
                <a:schemeClr val="dk1"/>
              </a:buClr>
              <a:buSzPts val="1800"/>
              <a:buFont typeface="Cambria"/>
              <a:buChar char="●"/>
            </a:pPr>
            <a:r>
              <a:rPr lang="en">
                <a:solidFill>
                  <a:schemeClr val="dk1"/>
                </a:solidFill>
                <a:latin typeface="Cambria"/>
                <a:ea typeface="Cambria"/>
                <a:cs typeface="Cambria"/>
                <a:sym typeface="Cambria"/>
              </a:rPr>
              <a:t>Expansion increases revenue and overall business value</a:t>
            </a:r>
            <a:endParaRPr>
              <a:solidFill>
                <a:schemeClr val="dk1"/>
              </a:solidFill>
              <a:latin typeface="Cambria"/>
              <a:ea typeface="Cambria"/>
              <a:cs typeface="Cambria"/>
              <a:sym typeface="Cambria"/>
            </a:endParaRPr>
          </a:p>
          <a:p>
            <a:pPr indent="-342900" lvl="0" marL="457200" rtl="0" algn="l">
              <a:spcBef>
                <a:spcPts val="0"/>
              </a:spcBef>
              <a:spcAft>
                <a:spcPts val="0"/>
              </a:spcAft>
              <a:buClr>
                <a:schemeClr val="dk1"/>
              </a:buClr>
              <a:buSzPts val="1800"/>
              <a:buFont typeface="Cambria"/>
              <a:buChar char="●"/>
            </a:pPr>
            <a:r>
              <a:rPr lang="en">
                <a:solidFill>
                  <a:schemeClr val="dk1"/>
                </a:solidFill>
                <a:latin typeface="Cambria"/>
                <a:ea typeface="Cambria"/>
                <a:cs typeface="Cambria"/>
                <a:sym typeface="Cambria"/>
              </a:rPr>
              <a:t>Scaling the Rutgers model to other universities unlocks broader market potential</a:t>
            </a:r>
            <a:endParaRPr>
              <a:solidFill>
                <a:schemeClr val="dk1"/>
              </a:solidFill>
              <a:latin typeface="Cambria"/>
              <a:ea typeface="Cambria"/>
              <a:cs typeface="Cambria"/>
              <a:sym typeface="Cambria"/>
            </a:endParaRPr>
          </a:p>
        </p:txBody>
      </p:sp>
      <p:sp>
        <p:nvSpPr>
          <p:cNvPr id="184" name="Google Shape;184;p32"/>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32"/>
          <p:cNvSpPr txBox="1"/>
          <p:nvPr>
            <p:ph type="title"/>
          </p:nvPr>
        </p:nvSpPr>
        <p:spPr>
          <a:xfrm>
            <a:off x="52476" y="86100"/>
            <a:ext cx="8975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20">
                <a:solidFill>
                  <a:schemeClr val="lt1"/>
                </a:solidFill>
                <a:latin typeface="Playfair Display"/>
                <a:ea typeface="Playfair Display"/>
                <a:cs typeface="Playfair Display"/>
                <a:sym typeface="Playfair Display"/>
              </a:rPr>
              <a:t>National expansion decision, approach, and rationale</a:t>
            </a:r>
            <a:endParaRPr sz="2820">
              <a:solidFill>
                <a:schemeClr val="lt1"/>
              </a:solidFill>
              <a:latin typeface="Playfair Display"/>
              <a:ea typeface="Playfair Display"/>
              <a:cs typeface="Playfair Display"/>
              <a:sym typeface="Playfair Displ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89" name="Shape 189"/>
        <p:cNvGrpSpPr/>
        <p:nvPr/>
      </p:nvGrpSpPr>
      <p:grpSpPr>
        <a:xfrm>
          <a:off x="0" y="0"/>
          <a:ext cx="0" cy="0"/>
          <a:chOff x="0" y="0"/>
          <a:chExt cx="0" cy="0"/>
        </a:xfrm>
      </p:grpSpPr>
      <p:sp>
        <p:nvSpPr>
          <p:cNvPr id="190" name="Google Shape;190;p33"/>
          <p:cNvSpPr txBox="1"/>
          <p:nvPr/>
        </p:nvSpPr>
        <p:spPr>
          <a:xfrm>
            <a:off x="3072000" y="1417875"/>
            <a:ext cx="3000000" cy="1185300"/>
          </a:xfrm>
          <a:prstGeom prst="rect">
            <a:avLst/>
          </a:prstGeom>
          <a:noFill/>
          <a:ln>
            <a:noFill/>
          </a:ln>
        </p:spPr>
        <p:txBody>
          <a:bodyPr anchorCtr="0" anchor="t" bIns="91425" lIns="91425" spcFirstLastPara="1" rIns="91425" wrap="square" tIns="91425">
            <a:spAutoFit/>
          </a:bodyPr>
          <a:lstStyle/>
          <a:p>
            <a:pPr indent="-330200" lvl="0" marL="457200" rtl="0" algn="just">
              <a:spcBef>
                <a:spcPts val="0"/>
              </a:spcBef>
              <a:spcAft>
                <a:spcPts val="0"/>
              </a:spcAft>
              <a:buClr>
                <a:schemeClr val="dk1"/>
              </a:buClr>
              <a:buSzPts val="1600"/>
              <a:buFont typeface="Cambria"/>
              <a:buChar char="-"/>
            </a:pPr>
            <a:r>
              <a:rPr lang="en" sz="1600">
                <a:solidFill>
                  <a:schemeClr val="dk1"/>
                </a:solidFill>
                <a:latin typeface="Cambria"/>
                <a:ea typeface="Cambria"/>
                <a:cs typeface="Cambria"/>
                <a:sym typeface="Cambria"/>
              </a:rPr>
              <a:t>Currency translation </a:t>
            </a:r>
            <a:endParaRPr sz="1600">
              <a:solidFill>
                <a:schemeClr val="dk1"/>
              </a:solidFill>
              <a:latin typeface="Cambria"/>
              <a:ea typeface="Cambria"/>
              <a:cs typeface="Cambria"/>
              <a:sym typeface="Cambria"/>
            </a:endParaRPr>
          </a:p>
          <a:p>
            <a:pPr indent="-330200" lvl="0" marL="457200" rtl="0" algn="just">
              <a:spcBef>
                <a:spcPts val="0"/>
              </a:spcBef>
              <a:spcAft>
                <a:spcPts val="0"/>
              </a:spcAft>
              <a:buClr>
                <a:schemeClr val="dk1"/>
              </a:buClr>
              <a:buSzPts val="1600"/>
              <a:buFont typeface="Cambria"/>
              <a:buChar char="-"/>
            </a:pPr>
            <a:r>
              <a:rPr lang="en" sz="1600">
                <a:solidFill>
                  <a:schemeClr val="dk1"/>
                </a:solidFill>
                <a:latin typeface="Cambria"/>
                <a:ea typeface="Cambria"/>
                <a:cs typeface="Cambria"/>
                <a:sym typeface="Cambria"/>
              </a:rPr>
              <a:t>Language translation</a:t>
            </a:r>
            <a:endParaRPr sz="1600">
              <a:solidFill>
                <a:schemeClr val="dk1"/>
              </a:solidFill>
              <a:latin typeface="Cambria"/>
              <a:ea typeface="Cambria"/>
              <a:cs typeface="Cambria"/>
              <a:sym typeface="Cambria"/>
            </a:endParaRPr>
          </a:p>
          <a:p>
            <a:pPr indent="-330200" lvl="0" marL="457200" rtl="0" algn="just">
              <a:spcBef>
                <a:spcPts val="0"/>
              </a:spcBef>
              <a:spcAft>
                <a:spcPts val="0"/>
              </a:spcAft>
              <a:buClr>
                <a:schemeClr val="dk1"/>
              </a:buClr>
              <a:buSzPts val="1600"/>
              <a:buFont typeface="Cambria"/>
              <a:buChar char="-"/>
            </a:pPr>
            <a:r>
              <a:rPr lang="en" sz="1600">
                <a:solidFill>
                  <a:schemeClr val="dk1"/>
                </a:solidFill>
                <a:latin typeface="Cambria"/>
                <a:ea typeface="Cambria"/>
                <a:cs typeface="Cambria"/>
                <a:sym typeface="Cambria"/>
              </a:rPr>
              <a:t>Strict interest rate caps</a:t>
            </a:r>
            <a:endParaRPr sz="1600">
              <a:solidFill>
                <a:schemeClr val="dk1"/>
              </a:solidFill>
              <a:latin typeface="Cambria"/>
              <a:ea typeface="Cambria"/>
              <a:cs typeface="Cambria"/>
              <a:sym typeface="Cambria"/>
            </a:endParaRPr>
          </a:p>
          <a:p>
            <a:pPr indent="-330200" lvl="0" marL="457200" rtl="0" algn="just">
              <a:spcBef>
                <a:spcPts val="0"/>
              </a:spcBef>
              <a:spcAft>
                <a:spcPts val="0"/>
              </a:spcAft>
              <a:buClr>
                <a:schemeClr val="dk1"/>
              </a:buClr>
              <a:buSzPts val="1600"/>
              <a:buFont typeface="Cambria"/>
              <a:buChar char="-"/>
            </a:pPr>
            <a:r>
              <a:rPr lang="en" sz="1600">
                <a:solidFill>
                  <a:schemeClr val="dk1"/>
                </a:solidFill>
                <a:latin typeface="Cambria"/>
                <a:ea typeface="Cambria"/>
                <a:cs typeface="Cambria"/>
                <a:sym typeface="Cambria"/>
              </a:rPr>
              <a:t>Licensing requirements</a:t>
            </a:r>
            <a:endParaRPr sz="1600">
              <a:latin typeface="Cambria"/>
              <a:ea typeface="Cambria"/>
              <a:cs typeface="Cambria"/>
              <a:sym typeface="Cambria"/>
            </a:endParaRPr>
          </a:p>
        </p:txBody>
      </p:sp>
      <p:sp>
        <p:nvSpPr>
          <p:cNvPr id="191" name="Google Shape;191;p33"/>
          <p:cNvSpPr txBox="1"/>
          <p:nvPr/>
        </p:nvSpPr>
        <p:spPr>
          <a:xfrm>
            <a:off x="-47846" y="1219517"/>
            <a:ext cx="3000000" cy="40134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1"/>
              </a:buClr>
              <a:buSzPts val="1600"/>
              <a:buFont typeface="Cambria"/>
              <a:buChar char="-"/>
            </a:pPr>
            <a:r>
              <a:rPr lang="en" sz="1600">
                <a:solidFill>
                  <a:schemeClr val="dk1"/>
                </a:solidFill>
                <a:latin typeface="Cambria"/>
                <a:ea typeface="Cambria"/>
                <a:cs typeface="Cambria"/>
                <a:sym typeface="Cambria"/>
              </a:rPr>
              <a:t>Very close</a:t>
            </a:r>
            <a:endParaRPr sz="1600">
              <a:solidFill>
                <a:schemeClr val="dk1"/>
              </a:solidFill>
              <a:latin typeface="Cambria"/>
              <a:ea typeface="Cambria"/>
              <a:cs typeface="Cambria"/>
              <a:sym typeface="Cambria"/>
            </a:endParaRPr>
          </a:p>
          <a:p>
            <a:pPr indent="-330200" lvl="0" marL="457200" rtl="0" algn="l">
              <a:lnSpc>
                <a:spcPct val="115000"/>
              </a:lnSpc>
              <a:spcBef>
                <a:spcPts val="0"/>
              </a:spcBef>
              <a:spcAft>
                <a:spcPts val="0"/>
              </a:spcAft>
              <a:buClr>
                <a:schemeClr val="dk1"/>
              </a:buClr>
              <a:buSzPts val="1600"/>
              <a:buFont typeface="Cambria"/>
              <a:buChar char="-"/>
            </a:pPr>
            <a:r>
              <a:rPr lang="en" sz="1600">
                <a:solidFill>
                  <a:schemeClr val="dk1"/>
                </a:solidFill>
                <a:latin typeface="Cambria"/>
                <a:ea typeface="Cambria"/>
                <a:cs typeface="Cambria"/>
                <a:sym typeface="Cambria"/>
              </a:rPr>
              <a:t>Major university opportunities</a:t>
            </a:r>
            <a:endParaRPr sz="1600">
              <a:solidFill>
                <a:schemeClr val="dk1"/>
              </a:solidFill>
              <a:latin typeface="Cambria"/>
              <a:ea typeface="Cambria"/>
              <a:cs typeface="Cambria"/>
              <a:sym typeface="Cambria"/>
            </a:endParaRPr>
          </a:p>
          <a:p>
            <a:pPr indent="0" lvl="0" marL="0" rtl="0" algn="l">
              <a:lnSpc>
                <a:spcPct val="115000"/>
              </a:lnSpc>
              <a:spcBef>
                <a:spcPts val="0"/>
              </a:spcBef>
              <a:spcAft>
                <a:spcPts val="0"/>
              </a:spcAft>
              <a:buNone/>
            </a:pPr>
            <a:r>
              <a:t/>
            </a:r>
            <a:endParaRPr sz="400">
              <a:solidFill>
                <a:schemeClr val="dk1"/>
              </a:solidFill>
              <a:latin typeface="Cambria"/>
              <a:ea typeface="Cambria"/>
              <a:cs typeface="Cambria"/>
              <a:sym typeface="Cambria"/>
            </a:endParaRPr>
          </a:p>
          <a:p>
            <a:pPr indent="-330200" lvl="0" marL="457200" rtl="0" algn="l">
              <a:lnSpc>
                <a:spcPct val="115000"/>
              </a:lnSpc>
              <a:spcBef>
                <a:spcPts val="0"/>
              </a:spcBef>
              <a:spcAft>
                <a:spcPts val="0"/>
              </a:spcAft>
              <a:buClr>
                <a:schemeClr val="dk1"/>
              </a:buClr>
              <a:buSzPts val="1600"/>
              <a:buFont typeface="Cambria"/>
              <a:buChar char="-"/>
            </a:pPr>
            <a:r>
              <a:rPr lang="en" sz="1600">
                <a:solidFill>
                  <a:schemeClr val="dk1"/>
                </a:solidFill>
                <a:latin typeface="Cambria"/>
                <a:ea typeface="Cambria"/>
                <a:cs typeface="Cambria"/>
                <a:sym typeface="Cambria"/>
              </a:rPr>
              <a:t>Similar legal system</a:t>
            </a:r>
            <a:endParaRPr sz="1600">
              <a:solidFill>
                <a:schemeClr val="dk1"/>
              </a:solidFill>
              <a:latin typeface="Cambria"/>
              <a:ea typeface="Cambria"/>
              <a:cs typeface="Cambria"/>
              <a:sym typeface="Cambria"/>
            </a:endParaRPr>
          </a:p>
          <a:p>
            <a:pPr indent="0" lvl="0" marL="0" rtl="0" algn="l">
              <a:lnSpc>
                <a:spcPct val="115000"/>
              </a:lnSpc>
              <a:spcBef>
                <a:spcPts val="0"/>
              </a:spcBef>
              <a:spcAft>
                <a:spcPts val="0"/>
              </a:spcAft>
              <a:buNone/>
            </a:pPr>
            <a:r>
              <a:t/>
            </a:r>
            <a:endParaRPr sz="400">
              <a:solidFill>
                <a:schemeClr val="dk1"/>
              </a:solidFill>
              <a:latin typeface="Cambria"/>
              <a:ea typeface="Cambria"/>
              <a:cs typeface="Cambria"/>
              <a:sym typeface="Cambria"/>
            </a:endParaRPr>
          </a:p>
          <a:p>
            <a:pPr indent="-330200" lvl="0" marL="457200" rtl="0" algn="l">
              <a:lnSpc>
                <a:spcPct val="115000"/>
              </a:lnSpc>
              <a:spcBef>
                <a:spcPts val="0"/>
              </a:spcBef>
              <a:spcAft>
                <a:spcPts val="0"/>
              </a:spcAft>
              <a:buClr>
                <a:schemeClr val="dk1"/>
              </a:buClr>
              <a:buSzPts val="1600"/>
              <a:buFont typeface="Cambria"/>
              <a:buChar char="-"/>
            </a:pPr>
            <a:r>
              <a:rPr lang="en" sz="1600">
                <a:solidFill>
                  <a:schemeClr val="dk1"/>
                </a:solidFill>
                <a:latin typeface="Cambria"/>
                <a:ea typeface="Cambria"/>
                <a:cs typeface="Cambria"/>
                <a:sym typeface="Cambria"/>
              </a:rPr>
              <a:t>Stable economic environment (GDP growth and legal protection of IP)</a:t>
            </a:r>
            <a:endParaRPr sz="1600">
              <a:solidFill>
                <a:schemeClr val="dk1"/>
              </a:solidFill>
              <a:latin typeface="Cambria"/>
              <a:ea typeface="Cambria"/>
              <a:cs typeface="Cambria"/>
              <a:sym typeface="Cambria"/>
            </a:endParaRPr>
          </a:p>
          <a:p>
            <a:pPr indent="0" lvl="0" marL="0" rtl="0" algn="l">
              <a:lnSpc>
                <a:spcPct val="115000"/>
              </a:lnSpc>
              <a:spcBef>
                <a:spcPts val="0"/>
              </a:spcBef>
              <a:spcAft>
                <a:spcPts val="0"/>
              </a:spcAft>
              <a:buNone/>
            </a:pPr>
            <a:r>
              <a:t/>
            </a:r>
            <a:endParaRPr sz="400">
              <a:solidFill>
                <a:schemeClr val="dk1"/>
              </a:solidFill>
              <a:latin typeface="Cambria"/>
              <a:ea typeface="Cambria"/>
              <a:cs typeface="Cambria"/>
              <a:sym typeface="Cambria"/>
            </a:endParaRPr>
          </a:p>
          <a:p>
            <a:pPr indent="-330200" lvl="0" marL="457200" rtl="0" algn="l">
              <a:lnSpc>
                <a:spcPct val="115000"/>
              </a:lnSpc>
              <a:spcBef>
                <a:spcPts val="0"/>
              </a:spcBef>
              <a:spcAft>
                <a:spcPts val="0"/>
              </a:spcAft>
              <a:buClr>
                <a:schemeClr val="dk1"/>
              </a:buClr>
              <a:buSzPts val="1600"/>
              <a:buFont typeface="Cambria"/>
              <a:buChar char="-"/>
            </a:pPr>
            <a:r>
              <a:rPr lang="en" sz="1600">
                <a:solidFill>
                  <a:schemeClr val="dk1"/>
                </a:solidFill>
                <a:latin typeface="Cambria"/>
                <a:ea typeface="Cambria"/>
                <a:cs typeface="Cambria"/>
                <a:sym typeface="Cambria"/>
              </a:rPr>
              <a:t>Very similar Power Distance and Uncertainty Avoidance score</a:t>
            </a:r>
            <a:endParaRPr sz="100">
              <a:solidFill>
                <a:schemeClr val="dk1"/>
              </a:solidFill>
              <a:latin typeface="Cambria"/>
              <a:ea typeface="Cambria"/>
              <a:cs typeface="Cambria"/>
              <a:sym typeface="Cambria"/>
            </a:endParaRPr>
          </a:p>
          <a:p>
            <a:pPr indent="-330200" lvl="1" marL="914400" rtl="0" algn="l">
              <a:lnSpc>
                <a:spcPct val="115000"/>
              </a:lnSpc>
              <a:spcBef>
                <a:spcPts val="0"/>
              </a:spcBef>
              <a:spcAft>
                <a:spcPts val="0"/>
              </a:spcAft>
              <a:buClr>
                <a:schemeClr val="dk1"/>
              </a:buClr>
              <a:buSzPts val="1600"/>
              <a:buFont typeface="Cambria"/>
              <a:buChar char="-"/>
            </a:pPr>
            <a:r>
              <a:rPr lang="en" sz="1600">
                <a:solidFill>
                  <a:schemeClr val="dk1"/>
                </a:solidFill>
                <a:latin typeface="Cambria"/>
                <a:ea typeface="Cambria"/>
                <a:cs typeface="Cambria"/>
                <a:sym typeface="Cambria"/>
              </a:rPr>
              <a:t>39-40 and 48-46, respectfully</a:t>
            </a:r>
            <a:endParaRPr sz="1600">
              <a:solidFill>
                <a:schemeClr val="dk1"/>
              </a:solidFill>
              <a:latin typeface="Cambria"/>
              <a:ea typeface="Cambria"/>
              <a:cs typeface="Cambria"/>
              <a:sym typeface="Cambria"/>
            </a:endParaRPr>
          </a:p>
          <a:p>
            <a:pPr indent="-330200" lvl="1" marL="914400" rtl="0" algn="l">
              <a:lnSpc>
                <a:spcPct val="115000"/>
              </a:lnSpc>
              <a:spcBef>
                <a:spcPts val="0"/>
              </a:spcBef>
              <a:spcAft>
                <a:spcPts val="0"/>
              </a:spcAft>
              <a:buClr>
                <a:schemeClr val="dk1"/>
              </a:buClr>
              <a:buSzPts val="1600"/>
              <a:buFont typeface="Cambria"/>
              <a:buChar char="-"/>
            </a:pPr>
            <a:r>
              <a:rPr lang="en" sz="1600">
                <a:solidFill>
                  <a:schemeClr val="dk1"/>
                </a:solidFill>
                <a:latin typeface="Cambria"/>
                <a:ea typeface="Cambria"/>
                <a:cs typeface="Cambria"/>
                <a:sym typeface="Cambria"/>
              </a:rPr>
              <a:t>Reduces cultural risk</a:t>
            </a:r>
            <a:endParaRPr sz="1600">
              <a:latin typeface="Cambria"/>
              <a:ea typeface="Cambria"/>
              <a:cs typeface="Cambria"/>
              <a:sym typeface="Cambria"/>
            </a:endParaRPr>
          </a:p>
        </p:txBody>
      </p:sp>
      <p:sp>
        <p:nvSpPr>
          <p:cNvPr id="192" name="Google Shape;192;p33"/>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33"/>
          <p:cNvSpPr txBox="1"/>
          <p:nvPr>
            <p:ph type="title"/>
          </p:nvPr>
        </p:nvSpPr>
        <p:spPr>
          <a:xfrm>
            <a:off x="52463" y="861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chemeClr val="lt1"/>
                </a:solidFill>
                <a:latin typeface="Playfair Display"/>
                <a:ea typeface="Playfair Display"/>
                <a:cs typeface="Playfair Display"/>
                <a:sym typeface="Playfair Display"/>
              </a:rPr>
              <a:t>Canada</a:t>
            </a:r>
            <a:endParaRPr sz="3020">
              <a:solidFill>
                <a:schemeClr val="lt1"/>
              </a:solidFill>
              <a:latin typeface="Playfair Display"/>
              <a:ea typeface="Playfair Display"/>
              <a:cs typeface="Playfair Display"/>
              <a:sym typeface="Playfair Display"/>
            </a:endParaRPr>
          </a:p>
        </p:txBody>
      </p:sp>
      <p:cxnSp>
        <p:nvCxnSpPr>
          <p:cNvPr id="194" name="Google Shape;194;p33"/>
          <p:cNvCxnSpPr/>
          <p:nvPr/>
        </p:nvCxnSpPr>
        <p:spPr>
          <a:xfrm>
            <a:off x="3012075" y="743100"/>
            <a:ext cx="0" cy="4392900"/>
          </a:xfrm>
          <a:prstGeom prst="straightConnector1">
            <a:avLst/>
          </a:prstGeom>
          <a:noFill/>
          <a:ln cap="flat" cmpd="sng" w="28575">
            <a:solidFill>
              <a:schemeClr val="dk2"/>
            </a:solidFill>
            <a:prstDash val="solid"/>
            <a:round/>
            <a:headEnd len="med" w="med" type="none"/>
            <a:tailEnd len="med" w="med" type="none"/>
          </a:ln>
        </p:spPr>
      </p:cxnSp>
      <p:cxnSp>
        <p:nvCxnSpPr>
          <p:cNvPr id="195" name="Google Shape;195;p33"/>
          <p:cNvCxnSpPr/>
          <p:nvPr/>
        </p:nvCxnSpPr>
        <p:spPr>
          <a:xfrm>
            <a:off x="6131900" y="743100"/>
            <a:ext cx="0" cy="4395600"/>
          </a:xfrm>
          <a:prstGeom prst="straightConnector1">
            <a:avLst/>
          </a:prstGeom>
          <a:noFill/>
          <a:ln cap="flat" cmpd="sng" w="28575">
            <a:solidFill>
              <a:schemeClr val="dk2"/>
            </a:solidFill>
            <a:prstDash val="solid"/>
            <a:round/>
            <a:headEnd len="med" w="med" type="none"/>
            <a:tailEnd len="med" w="med" type="none"/>
          </a:ln>
        </p:spPr>
      </p:cxnSp>
      <p:sp>
        <p:nvSpPr>
          <p:cNvPr id="196" name="Google Shape;196;p33"/>
          <p:cNvSpPr txBox="1"/>
          <p:nvPr/>
        </p:nvSpPr>
        <p:spPr>
          <a:xfrm>
            <a:off x="6178725" y="1359655"/>
            <a:ext cx="3000000" cy="341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Cambria"/>
                <a:ea typeface="Cambria"/>
                <a:cs typeface="Cambria"/>
                <a:sym typeface="Cambria"/>
              </a:rPr>
              <a:t>Canada’s distance and similarity with the legal system mean that by far the best choice. The proximity means that we can still check the franchisees, which minimizes the risk of them causing us reputational damage since we are keeping an eye on them. It is most convenient as it has similar cultural conditions as America—they are close and speak same language, lots of legal enforcement, and not too much economic risk—which would mean we would require minimal changes in our business model.</a:t>
            </a:r>
            <a:endParaRPr>
              <a:solidFill>
                <a:schemeClr val="dk1"/>
              </a:solidFill>
              <a:latin typeface="Cambria"/>
              <a:ea typeface="Cambria"/>
              <a:cs typeface="Cambria"/>
              <a:sym typeface="Cambria"/>
            </a:endParaRPr>
          </a:p>
        </p:txBody>
      </p:sp>
      <p:sp>
        <p:nvSpPr>
          <p:cNvPr id="197" name="Google Shape;197;p33"/>
          <p:cNvSpPr txBox="1"/>
          <p:nvPr/>
        </p:nvSpPr>
        <p:spPr>
          <a:xfrm>
            <a:off x="100050" y="793230"/>
            <a:ext cx="2620800" cy="4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u="sng">
                <a:solidFill>
                  <a:schemeClr val="dk1"/>
                </a:solidFill>
                <a:latin typeface="Cambria"/>
                <a:ea typeface="Cambria"/>
                <a:cs typeface="Cambria"/>
                <a:sym typeface="Cambria"/>
              </a:rPr>
              <a:t>Opportunities </a:t>
            </a:r>
            <a:endParaRPr sz="2100" u="sng">
              <a:solidFill>
                <a:schemeClr val="dk1"/>
              </a:solidFill>
              <a:latin typeface="Cambria"/>
              <a:ea typeface="Cambria"/>
              <a:cs typeface="Cambria"/>
              <a:sym typeface="Cambria"/>
            </a:endParaRPr>
          </a:p>
        </p:txBody>
      </p:sp>
      <p:sp>
        <p:nvSpPr>
          <p:cNvPr id="198" name="Google Shape;198;p33"/>
          <p:cNvSpPr txBox="1"/>
          <p:nvPr/>
        </p:nvSpPr>
        <p:spPr>
          <a:xfrm>
            <a:off x="3115975" y="815438"/>
            <a:ext cx="2620800" cy="4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u="sng">
                <a:solidFill>
                  <a:schemeClr val="dk1"/>
                </a:solidFill>
                <a:latin typeface="Cambria"/>
                <a:ea typeface="Cambria"/>
                <a:cs typeface="Cambria"/>
                <a:sym typeface="Cambria"/>
              </a:rPr>
              <a:t>Challenges</a:t>
            </a:r>
            <a:endParaRPr sz="2100" u="sng">
              <a:solidFill>
                <a:schemeClr val="dk1"/>
              </a:solidFill>
              <a:latin typeface="Cambria"/>
              <a:ea typeface="Cambria"/>
              <a:cs typeface="Cambria"/>
              <a:sym typeface="Cambria"/>
            </a:endParaRPr>
          </a:p>
        </p:txBody>
      </p:sp>
      <p:sp>
        <p:nvSpPr>
          <p:cNvPr id="199" name="Google Shape;199;p33"/>
          <p:cNvSpPr txBox="1"/>
          <p:nvPr/>
        </p:nvSpPr>
        <p:spPr>
          <a:xfrm>
            <a:off x="6324825" y="814721"/>
            <a:ext cx="2620800" cy="4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u="sng">
                <a:solidFill>
                  <a:schemeClr val="dk1"/>
                </a:solidFill>
                <a:latin typeface="Cambria"/>
                <a:ea typeface="Cambria"/>
                <a:cs typeface="Cambria"/>
                <a:sym typeface="Cambria"/>
              </a:rPr>
              <a:t>Rationale</a:t>
            </a:r>
            <a:endParaRPr sz="2100" u="sng">
              <a:solidFill>
                <a:schemeClr val="dk1"/>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03" name="Shape 203"/>
        <p:cNvGrpSpPr/>
        <p:nvPr/>
      </p:nvGrpSpPr>
      <p:grpSpPr>
        <a:xfrm>
          <a:off x="0" y="0"/>
          <a:ext cx="0" cy="0"/>
          <a:chOff x="0" y="0"/>
          <a:chExt cx="0" cy="0"/>
        </a:xfrm>
      </p:grpSpPr>
      <p:sp>
        <p:nvSpPr>
          <p:cNvPr id="204" name="Google Shape;204;p34"/>
          <p:cNvSpPr txBox="1"/>
          <p:nvPr/>
        </p:nvSpPr>
        <p:spPr>
          <a:xfrm>
            <a:off x="570750" y="3261896"/>
            <a:ext cx="8002500" cy="188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mbria"/>
                <a:ea typeface="Cambria"/>
                <a:cs typeface="Cambria"/>
                <a:sym typeface="Cambria"/>
              </a:rPr>
              <a:t>W</a:t>
            </a:r>
            <a:r>
              <a:rPr lang="en" sz="1800">
                <a:solidFill>
                  <a:schemeClr val="dk1"/>
                </a:solidFill>
                <a:latin typeface="Cambria"/>
                <a:ea typeface="Cambria"/>
                <a:cs typeface="Cambria"/>
                <a:sym typeface="Cambria"/>
              </a:rPr>
              <a:t>e can join businesses and reduce financial risk. Doing so leads to more university connections, easier licensing and more minds as you now share a business. </a:t>
            </a:r>
            <a:endParaRPr sz="1800">
              <a:solidFill>
                <a:schemeClr val="dk1"/>
              </a:solidFill>
              <a:latin typeface="Cambria"/>
              <a:ea typeface="Cambria"/>
              <a:cs typeface="Cambria"/>
              <a:sym typeface="Cambria"/>
            </a:endParaRPr>
          </a:p>
          <a:p>
            <a:pPr indent="0" lvl="0" marL="0" rtl="0" algn="l">
              <a:spcBef>
                <a:spcPts val="0"/>
              </a:spcBef>
              <a:spcAft>
                <a:spcPts val="0"/>
              </a:spcAft>
              <a:buNone/>
            </a:pPr>
            <a:r>
              <a:t/>
            </a:r>
            <a:endParaRPr sz="100">
              <a:solidFill>
                <a:schemeClr val="dk1"/>
              </a:solidFill>
              <a:latin typeface="Cambria"/>
              <a:ea typeface="Cambria"/>
              <a:cs typeface="Cambria"/>
              <a:sym typeface="Cambria"/>
            </a:endParaRPr>
          </a:p>
          <a:p>
            <a:pPr indent="0" lvl="0" marL="0" rtl="0" algn="l">
              <a:spcBef>
                <a:spcPts val="0"/>
              </a:spcBef>
              <a:spcAft>
                <a:spcPts val="0"/>
              </a:spcAft>
              <a:buNone/>
            </a:pPr>
            <a:r>
              <a:rPr lang="en" sz="1800">
                <a:solidFill>
                  <a:schemeClr val="dk1"/>
                </a:solidFill>
                <a:latin typeface="Cambria"/>
                <a:ea typeface="Cambria"/>
                <a:cs typeface="Cambria"/>
                <a:sym typeface="Cambria"/>
              </a:rPr>
              <a:t>Additionally if we were to do a joint venture with the colleges and campuses themself, it would make integration that much easier (employees, promotional support, etc.)</a:t>
            </a:r>
            <a:endParaRPr sz="1800">
              <a:latin typeface="Cambria"/>
              <a:ea typeface="Cambria"/>
              <a:cs typeface="Cambria"/>
              <a:sym typeface="Cambria"/>
            </a:endParaRPr>
          </a:p>
        </p:txBody>
      </p:sp>
      <p:sp>
        <p:nvSpPr>
          <p:cNvPr id="205" name="Google Shape;205;p34"/>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34"/>
          <p:cNvSpPr txBox="1"/>
          <p:nvPr>
            <p:ph type="title"/>
          </p:nvPr>
        </p:nvSpPr>
        <p:spPr>
          <a:xfrm>
            <a:off x="111601" y="86100"/>
            <a:ext cx="8920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chemeClr val="lt1"/>
                </a:solidFill>
                <a:latin typeface="Playfair Display"/>
                <a:ea typeface="Playfair Display"/>
                <a:cs typeface="Playfair Display"/>
                <a:sym typeface="Playfair Display"/>
              </a:rPr>
              <a:t>Expansion strategy, Entry strategy, and rationale</a:t>
            </a:r>
            <a:endParaRPr sz="3020">
              <a:solidFill>
                <a:schemeClr val="lt1"/>
              </a:solidFill>
              <a:latin typeface="Playfair Display"/>
              <a:ea typeface="Playfair Display"/>
              <a:cs typeface="Playfair Display"/>
              <a:sym typeface="Playfair Display"/>
            </a:endParaRPr>
          </a:p>
        </p:txBody>
      </p:sp>
      <p:sp>
        <p:nvSpPr>
          <p:cNvPr id="207" name="Google Shape;207;p34"/>
          <p:cNvSpPr txBox="1"/>
          <p:nvPr/>
        </p:nvSpPr>
        <p:spPr>
          <a:xfrm>
            <a:off x="3756675" y="658805"/>
            <a:ext cx="14784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solidFill>
                  <a:schemeClr val="dk1"/>
                </a:solidFill>
                <a:latin typeface="Cambria"/>
                <a:ea typeface="Cambria"/>
                <a:cs typeface="Cambria"/>
                <a:sym typeface="Cambria"/>
              </a:rPr>
              <a:t>Go Hybrid</a:t>
            </a:r>
            <a:endParaRPr b="1" sz="2100">
              <a:solidFill>
                <a:schemeClr val="dk1"/>
              </a:solidFill>
              <a:latin typeface="Cambria"/>
              <a:ea typeface="Cambria"/>
              <a:cs typeface="Cambria"/>
              <a:sym typeface="Cambria"/>
            </a:endParaRPr>
          </a:p>
        </p:txBody>
      </p:sp>
      <p:sp>
        <p:nvSpPr>
          <p:cNvPr id="208" name="Google Shape;208;p34"/>
          <p:cNvSpPr txBox="1"/>
          <p:nvPr/>
        </p:nvSpPr>
        <p:spPr>
          <a:xfrm>
            <a:off x="0" y="1023973"/>
            <a:ext cx="9144000" cy="1604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ambria"/>
                <a:ea typeface="Cambria"/>
                <a:cs typeface="Cambria"/>
                <a:sym typeface="Cambria"/>
              </a:rPr>
              <a:t>Canada is very similar to America (very little customization needed), according to Hofstede’s Dimensions of Culture</a:t>
            </a:r>
            <a:endParaRPr sz="1800">
              <a:solidFill>
                <a:schemeClr val="dk1"/>
              </a:solidFill>
              <a:latin typeface="Cambria"/>
              <a:ea typeface="Cambria"/>
              <a:cs typeface="Cambria"/>
              <a:sym typeface="Cambria"/>
            </a:endParaRPr>
          </a:p>
          <a:p>
            <a:pPr indent="0" lvl="0" marL="0" rtl="0" algn="ctr">
              <a:spcBef>
                <a:spcPts val="0"/>
              </a:spcBef>
              <a:spcAft>
                <a:spcPts val="0"/>
              </a:spcAft>
              <a:buNone/>
            </a:pPr>
            <a:r>
              <a:t/>
            </a:r>
            <a:endParaRPr sz="100">
              <a:solidFill>
                <a:schemeClr val="dk1"/>
              </a:solidFill>
              <a:latin typeface="Cambria"/>
              <a:ea typeface="Cambria"/>
              <a:cs typeface="Cambria"/>
              <a:sym typeface="Cambria"/>
            </a:endParaRPr>
          </a:p>
          <a:p>
            <a:pPr indent="0" lvl="0" marL="0" rtl="0" algn="ctr">
              <a:spcBef>
                <a:spcPts val="0"/>
              </a:spcBef>
              <a:spcAft>
                <a:spcPts val="0"/>
              </a:spcAft>
              <a:buNone/>
            </a:pPr>
            <a:r>
              <a:rPr lang="en" sz="1800">
                <a:solidFill>
                  <a:schemeClr val="dk1"/>
                </a:solidFill>
                <a:latin typeface="Cambria"/>
                <a:ea typeface="Cambria"/>
                <a:cs typeface="Cambria"/>
                <a:sym typeface="Cambria"/>
              </a:rPr>
              <a:t>Cost savings, efficient, no major changes needed, and allows for consistent core business values (we could adjust for small changes in the marketplace, but nothing that would take away from our core business and vision)</a:t>
            </a:r>
            <a:endParaRPr sz="1800">
              <a:solidFill>
                <a:schemeClr val="dk1"/>
              </a:solidFill>
              <a:latin typeface="Cambria"/>
              <a:ea typeface="Cambria"/>
              <a:cs typeface="Cambria"/>
              <a:sym typeface="Cambria"/>
            </a:endParaRPr>
          </a:p>
        </p:txBody>
      </p:sp>
      <p:sp>
        <p:nvSpPr>
          <p:cNvPr id="209" name="Google Shape;209;p34"/>
          <p:cNvSpPr txBox="1"/>
          <p:nvPr/>
        </p:nvSpPr>
        <p:spPr>
          <a:xfrm>
            <a:off x="3655650" y="2850654"/>
            <a:ext cx="18327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chemeClr val="dk1"/>
                </a:solidFill>
                <a:latin typeface="Cambria"/>
                <a:ea typeface="Cambria"/>
                <a:cs typeface="Cambria"/>
                <a:sym typeface="Cambria"/>
              </a:rPr>
              <a:t>Joint-Venture</a:t>
            </a:r>
            <a:endParaRPr b="1" sz="2100">
              <a:solidFill>
                <a:schemeClr val="dk1"/>
              </a:solidFill>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13" name="Shape 213"/>
        <p:cNvGrpSpPr/>
        <p:nvPr/>
      </p:nvGrpSpPr>
      <p:grpSpPr>
        <a:xfrm>
          <a:off x="0" y="0"/>
          <a:ext cx="0" cy="0"/>
          <a:chOff x="0" y="0"/>
          <a:chExt cx="0" cy="0"/>
        </a:xfrm>
      </p:grpSpPr>
      <p:sp>
        <p:nvSpPr>
          <p:cNvPr id="214" name="Google Shape;214;p35"/>
          <p:cNvSpPr txBox="1"/>
          <p:nvPr>
            <p:ph idx="1" type="body"/>
          </p:nvPr>
        </p:nvSpPr>
        <p:spPr>
          <a:xfrm>
            <a:off x="311700" y="959697"/>
            <a:ext cx="4369800" cy="41838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2100">
                <a:solidFill>
                  <a:schemeClr val="dk1"/>
                </a:solidFill>
                <a:latin typeface="Cambria"/>
                <a:ea typeface="Cambria"/>
                <a:cs typeface="Cambria"/>
                <a:sym typeface="Cambria"/>
              </a:rPr>
              <a:t>Job: Store Clerk </a:t>
            </a:r>
            <a:endParaRPr sz="2100">
              <a:solidFill>
                <a:schemeClr val="dk1"/>
              </a:solidFill>
              <a:latin typeface="Cambria"/>
              <a:ea typeface="Cambria"/>
              <a:cs typeface="Cambria"/>
              <a:sym typeface="Cambria"/>
            </a:endParaRPr>
          </a:p>
          <a:p>
            <a:pPr indent="0" lvl="0" marL="0" rtl="0" algn="l">
              <a:lnSpc>
                <a:spcPct val="105000"/>
              </a:lnSpc>
              <a:spcBef>
                <a:spcPts val="1200"/>
              </a:spcBef>
              <a:spcAft>
                <a:spcPts val="0"/>
              </a:spcAft>
              <a:buNone/>
            </a:pPr>
            <a:r>
              <a:rPr lang="en" sz="2100">
                <a:solidFill>
                  <a:schemeClr val="dk1"/>
                </a:solidFill>
                <a:latin typeface="Cambria"/>
                <a:ea typeface="Cambria"/>
                <a:cs typeface="Cambria"/>
                <a:sym typeface="Cambria"/>
              </a:rPr>
              <a:t>Responsibilities: </a:t>
            </a:r>
            <a:endParaRPr sz="2100">
              <a:solidFill>
                <a:schemeClr val="dk1"/>
              </a:solidFill>
              <a:latin typeface="Cambria"/>
              <a:ea typeface="Cambria"/>
              <a:cs typeface="Cambria"/>
              <a:sym typeface="Cambria"/>
            </a:endParaRPr>
          </a:p>
          <a:p>
            <a:pPr indent="-336550" lvl="0" marL="457200" rtl="0" algn="l">
              <a:lnSpc>
                <a:spcPct val="90000"/>
              </a:lnSpc>
              <a:spcBef>
                <a:spcPts val="120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Answering customers questions</a:t>
            </a:r>
            <a:endParaRPr sz="1700">
              <a:solidFill>
                <a:schemeClr val="dk1"/>
              </a:solidFill>
              <a:latin typeface="Cambria"/>
              <a:ea typeface="Cambria"/>
              <a:cs typeface="Cambria"/>
              <a:sym typeface="Cambria"/>
            </a:endParaRPr>
          </a:p>
          <a:p>
            <a:pPr indent="-336550" lvl="0" marL="457200" rtl="0" algn="l">
              <a:lnSpc>
                <a:spcPct val="90000"/>
              </a:lnSpc>
              <a:spcBef>
                <a:spcPts val="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Handling sales and giving change back (manages transactions)</a:t>
            </a:r>
            <a:endParaRPr sz="1700">
              <a:solidFill>
                <a:schemeClr val="dk1"/>
              </a:solidFill>
              <a:latin typeface="Cambria"/>
              <a:ea typeface="Cambria"/>
              <a:cs typeface="Cambria"/>
              <a:sym typeface="Cambria"/>
            </a:endParaRPr>
          </a:p>
          <a:p>
            <a:pPr indent="-336550" lvl="0" marL="457200" rtl="0" algn="l">
              <a:lnSpc>
                <a:spcPct val="90000"/>
              </a:lnSpc>
              <a:spcBef>
                <a:spcPts val="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Has receipt of all sales </a:t>
            </a:r>
            <a:endParaRPr sz="1700">
              <a:solidFill>
                <a:schemeClr val="dk1"/>
              </a:solidFill>
              <a:latin typeface="Cambria"/>
              <a:ea typeface="Cambria"/>
              <a:cs typeface="Cambria"/>
              <a:sym typeface="Cambria"/>
            </a:endParaRPr>
          </a:p>
          <a:p>
            <a:pPr indent="-336550" lvl="0" marL="457200" rtl="0" algn="l">
              <a:lnSpc>
                <a:spcPct val="90000"/>
              </a:lnSpc>
              <a:spcBef>
                <a:spcPts val="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Keep track of merchandise</a:t>
            </a:r>
            <a:endParaRPr sz="1700">
              <a:solidFill>
                <a:schemeClr val="dk1"/>
              </a:solidFill>
              <a:latin typeface="Cambria"/>
              <a:ea typeface="Cambria"/>
              <a:cs typeface="Cambria"/>
              <a:sym typeface="Cambria"/>
            </a:endParaRPr>
          </a:p>
          <a:p>
            <a:pPr indent="0" lvl="0" marL="457200" rtl="0" algn="l">
              <a:lnSpc>
                <a:spcPct val="90000"/>
              </a:lnSpc>
              <a:spcBef>
                <a:spcPts val="0"/>
              </a:spcBef>
              <a:spcAft>
                <a:spcPts val="0"/>
              </a:spcAft>
              <a:buNone/>
            </a:pPr>
            <a:r>
              <a:t/>
            </a:r>
            <a:endParaRPr sz="1700">
              <a:solidFill>
                <a:schemeClr val="dk1"/>
              </a:solidFill>
              <a:latin typeface="Cambria"/>
              <a:ea typeface="Cambria"/>
              <a:cs typeface="Cambria"/>
              <a:sym typeface="Cambria"/>
            </a:endParaRPr>
          </a:p>
          <a:p>
            <a:pPr indent="0" lvl="0" marL="0" rtl="0" algn="l">
              <a:lnSpc>
                <a:spcPct val="90000"/>
              </a:lnSpc>
              <a:spcBef>
                <a:spcPts val="0"/>
              </a:spcBef>
              <a:spcAft>
                <a:spcPts val="0"/>
              </a:spcAft>
              <a:buNone/>
            </a:pPr>
            <a:r>
              <a:rPr lang="en" sz="2100">
                <a:solidFill>
                  <a:schemeClr val="dk1"/>
                </a:solidFill>
                <a:latin typeface="Cambria"/>
                <a:ea typeface="Cambria"/>
                <a:cs typeface="Cambria"/>
                <a:sym typeface="Cambria"/>
              </a:rPr>
              <a:t>Qualifications: </a:t>
            </a:r>
            <a:endParaRPr sz="2100">
              <a:solidFill>
                <a:schemeClr val="dk1"/>
              </a:solidFill>
              <a:latin typeface="Cambria"/>
              <a:ea typeface="Cambria"/>
              <a:cs typeface="Cambria"/>
              <a:sym typeface="Cambria"/>
            </a:endParaRPr>
          </a:p>
          <a:p>
            <a:pPr indent="-336550" lvl="0" marL="457200" rtl="0" algn="l">
              <a:lnSpc>
                <a:spcPct val="90000"/>
              </a:lnSpc>
              <a:spcBef>
                <a:spcPts val="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No necessary qualifications required, preferred students to let them develop skills</a:t>
            </a:r>
            <a:endParaRPr sz="1700">
              <a:solidFill>
                <a:schemeClr val="dk1"/>
              </a:solidFill>
              <a:latin typeface="Cambria"/>
              <a:ea typeface="Cambria"/>
              <a:cs typeface="Cambria"/>
              <a:sym typeface="Cambria"/>
            </a:endParaRPr>
          </a:p>
          <a:p>
            <a:pPr indent="0" lvl="0" marL="457200" rtl="0" algn="l">
              <a:lnSpc>
                <a:spcPct val="90000"/>
              </a:lnSpc>
              <a:spcBef>
                <a:spcPts val="0"/>
              </a:spcBef>
              <a:spcAft>
                <a:spcPts val="0"/>
              </a:spcAft>
              <a:buNone/>
            </a:pPr>
            <a:r>
              <a:t/>
            </a:r>
            <a:endParaRPr sz="1000">
              <a:solidFill>
                <a:schemeClr val="dk1"/>
              </a:solidFill>
              <a:latin typeface="Cambria"/>
              <a:ea typeface="Cambria"/>
              <a:cs typeface="Cambria"/>
              <a:sym typeface="Cambria"/>
            </a:endParaRPr>
          </a:p>
          <a:p>
            <a:pPr indent="0" lvl="0" marL="0" rtl="0" algn="l">
              <a:lnSpc>
                <a:spcPct val="90000"/>
              </a:lnSpc>
              <a:spcBef>
                <a:spcPts val="0"/>
              </a:spcBef>
              <a:spcAft>
                <a:spcPts val="0"/>
              </a:spcAft>
              <a:buNone/>
            </a:pPr>
            <a:r>
              <a:rPr lang="en" sz="2100">
                <a:solidFill>
                  <a:schemeClr val="dk1"/>
                </a:solidFill>
                <a:latin typeface="Cambria"/>
                <a:ea typeface="Cambria"/>
                <a:cs typeface="Cambria"/>
                <a:sym typeface="Cambria"/>
              </a:rPr>
              <a:t>Compensation Plan: </a:t>
            </a:r>
            <a:endParaRPr sz="2100">
              <a:solidFill>
                <a:schemeClr val="dk1"/>
              </a:solidFill>
              <a:latin typeface="Cambria"/>
              <a:ea typeface="Cambria"/>
              <a:cs typeface="Cambria"/>
              <a:sym typeface="Cambria"/>
            </a:endParaRPr>
          </a:p>
          <a:p>
            <a:pPr indent="-336550" lvl="0" marL="457200" rtl="0" algn="l">
              <a:lnSpc>
                <a:spcPct val="90000"/>
              </a:lnSpc>
              <a:spcBef>
                <a:spcPts val="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Minimum wage</a:t>
            </a:r>
            <a:endParaRPr sz="1700">
              <a:solidFill>
                <a:schemeClr val="dk1"/>
              </a:solidFill>
              <a:latin typeface="Cambria"/>
              <a:ea typeface="Cambria"/>
              <a:cs typeface="Cambria"/>
              <a:sym typeface="Cambria"/>
            </a:endParaRPr>
          </a:p>
          <a:p>
            <a:pPr indent="0" lvl="0" marL="0" rtl="0" algn="l">
              <a:lnSpc>
                <a:spcPct val="90000"/>
              </a:lnSpc>
              <a:spcBef>
                <a:spcPts val="0"/>
              </a:spcBef>
              <a:spcAft>
                <a:spcPts val="0"/>
              </a:spcAft>
              <a:buNone/>
            </a:pPr>
            <a:r>
              <a:t/>
            </a:r>
            <a:endParaRPr sz="1700">
              <a:solidFill>
                <a:schemeClr val="dk1"/>
              </a:solidFill>
              <a:latin typeface="Cambria"/>
              <a:ea typeface="Cambria"/>
              <a:cs typeface="Cambria"/>
              <a:sym typeface="Cambria"/>
            </a:endParaRPr>
          </a:p>
        </p:txBody>
      </p:sp>
      <p:sp>
        <p:nvSpPr>
          <p:cNvPr id="215" name="Google Shape;215;p35"/>
          <p:cNvSpPr/>
          <p:nvPr/>
        </p:nvSpPr>
        <p:spPr>
          <a:xfrm>
            <a:off x="0" y="2"/>
            <a:ext cx="9144000" cy="9396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35"/>
          <p:cNvSpPr txBox="1"/>
          <p:nvPr>
            <p:ph type="title"/>
          </p:nvPr>
        </p:nvSpPr>
        <p:spPr>
          <a:xfrm>
            <a:off x="52476" y="86100"/>
            <a:ext cx="8920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20">
                <a:solidFill>
                  <a:schemeClr val="lt1"/>
                </a:solidFill>
                <a:latin typeface="Playfair Display"/>
                <a:ea typeface="Playfair Display"/>
                <a:cs typeface="Playfair Display"/>
                <a:sym typeface="Playfair Display"/>
              </a:rPr>
              <a:t>Key job selected, summary of responsibilities, qualifications required, compensation plan, advertising plan, criteria for selection</a:t>
            </a:r>
            <a:endParaRPr sz="2220">
              <a:solidFill>
                <a:schemeClr val="lt1"/>
              </a:solidFill>
              <a:latin typeface="Playfair Display"/>
              <a:ea typeface="Playfair Display"/>
              <a:cs typeface="Playfair Display"/>
              <a:sym typeface="Playfair Display"/>
            </a:endParaRPr>
          </a:p>
        </p:txBody>
      </p:sp>
      <p:sp>
        <p:nvSpPr>
          <p:cNvPr id="217" name="Google Shape;217;p35"/>
          <p:cNvSpPr txBox="1"/>
          <p:nvPr/>
        </p:nvSpPr>
        <p:spPr>
          <a:xfrm>
            <a:off x="4788850" y="1017987"/>
            <a:ext cx="4060200" cy="329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Cambria"/>
                <a:ea typeface="Cambria"/>
                <a:cs typeface="Cambria"/>
                <a:sym typeface="Cambria"/>
              </a:rPr>
              <a:t>Advertising Plan: </a:t>
            </a:r>
            <a:endParaRPr sz="2100">
              <a:solidFill>
                <a:schemeClr val="dk1"/>
              </a:solidFill>
              <a:latin typeface="Cambria"/>
              <a:ea typeface="Cambria"/>
              <a:cs typeface="Cambria"/>
              <a:sym typeface="Cambria"/>
            </a:endParaRPr>
          </a:p>
          <a:p>
            <a:pPr indent="-336550" lvl="0" marL="457200" rtl="0" algn="l">
              <a:spcBef>
                <a:spcPts val="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Rutgers platforms (Handshake)</a:t>
            </a:r>
            <a:endParaRPr sz="1700">
              <a:solidFill>
                <a:schemeClr val="dk1"/>
              </a:solidFill>
              <a:latin typeface="Cambria"/>
              <a:ea typeface="Cambria"/>
              <a:cs typeface="Cambria"/>
              <a:sym typeface="Cambria"/>
            </a:endParaRPr>
          </a:p>
          <a:p>
            <a:pPr indent="-336550" lvl="0" marL="457200" rtl="0" algn="l">
              <a:spcBef>
                <a:spcPts val="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Job searching sites (LinkedIn, Indeed)</a:t>
            </a:r>
            <a:endParaRPr sz="1700">
              <a:solidFill>
                <a:schemeClr val="dk1"/>
              </a:solidFill>
              <a:latin typeface="Cambria"/>
              <a:ea typeface="Cambria"/>
              <a:cs typeface="Cambria"/>
              <a:sym typeface="Cambria"/>
            </a:endParaRPr>
          </a:p>
          <a:p>
            <a:pPr indent="-336550" lvl="0" marL="457200" rtl="0" algn="l">
              <a:spcBef>
                <a:spcPts val="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Social Media</a:t>
            </a:r>
            <a:endParaRPr sz="1700">
              <a:solidFill>
                <a:schemeClr val="dk1"/>
              </a:solidFill>
              <a:latin typeface="Cambria"/>
              <a:ea typeface="Cambria"/>
              <a:cs typeface="Cambria"/>
              <a:sym typeface="Cambria"/>
            </a:endParaRPr>
          </a:p>
          <a:p>
            <a:pPr indent="-336550" lvl="0" marL="457200" rtl="0" algn="l">
              <a:spcBef>
                <a:spcPts val="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Posters around campus</a:t>
            </a:r>
            <a:endParaRPr sz="1700">
              <a:solidFill>
                <a:schemeClr val="dk1"/>
              </a:solidFill>
              <a:latin typeface="Cambria"/>
              <a:ea typeface="Cambria"/>
              <a:cs typeface="Cambria"/>
              <a:sym typeface="Cambria"/>
            </a:endParaRPr>
          </a:p>
          <a:p>
            <a:pPr indent="0" lvl="0" marL="0" rtl="0" algn="l">
              <a:spcBef>
                <a:spcPts val="0"/>
              </a:spcBef>
              <a:spcAft>
                <a:spcPts val="0"/>
              </a:spcAft>
              <a:buNone/>
            </a:pPr>
            <a:r>
              <a:rPr lang="en" sz="1700">
                <a:solidFill>
                  <a:schemeClr val="dk1"/>
                </a:solidFill>
                <a:latin typeface="Cambria"/>
                <a:ea typeface="Cambria"/>
                <a:cs typeface="Cambria"/>
                <a:sym typeface="Cambria"/>
              </a:rPr>
              <a:t> </a:t>
            </a:r>
            <a:endParaRPr sz="1700">
              <a:solidFill>
                <a:schemeClr val="dk1"/>
              </a:solidFill>
              <a:latin typeface="Cambria"/>
              <a:ea typeface="Cambria"/>
              <a:cs typeface="Cambria"/>
              <a:sym typeface="Cambria"/>
            </a:endParaRPr>
          </a:p>
          <a:p>
            <a:pPr indent="0" lvl="0" marL="0" rtl="0" algn="l">
              <a:spcBef>
                <a:spcPts val="0"/>
              </a:spcBef>
              <a:spcAft>
                <a:spcPts val="0"/>
              </a:spcAft>
              <a:buNone/>
            </a:pPr>
            <a:r>
              <a:rPr lang="en" sz="2100">
                <a:solidFill>
                  <a:schemeClr val="dk1"/>
                </a:solidFill>
                <a:latin typeface="Cambria"/>
                <a:ea typeface="Cambria"/>
                <a:cs typeface="Cambria"/>
                <a:sym typeface="Cambria"/>
              </a:rPr>
              <a:t>Criteria for Selection: </a:t>
            </a:r>
            <a:endParaRPr sz="2100">
              <a:solidFill>
                <a:schemeClr val="dk1"/>
              </a:solidFill>
              <a:latin typeface="Cambria"/>
              <a:ea typeface="Cambria"/>
              <a:cs typeface="Cambria"/>
              <a:sym typeface="Cambria"/>
            </a:endParaRPr>
          </a:p>
          <a:p>
            <a:pPr indent="-336550" lvl="0" marL="457200" rtl="0" algn="l">
              <a:spcBef>
                <a:spcPts val="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Did the applicant provide a complete application</a:t>
            </a:r>
            <a:endParaRPr sz="1700">
              <a:solidFill>
                <a:schemeClr val="dk1"/>
              </a:solidFill>
              <a:latin typeface="Cambria"/>
              <a:ea typeface="Cambria"/>
              <a:cs typeface="Cambria"/>
              <a:sym typeface="Cambria"/>
            </a:endParaRPr>
          </a:p>
          <a:p>
            <a:pPr indent="-336550" lvl="0" marL="457200" rtl="0" algn="l">
              <a:spcBef>
                <a:spcPts val="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Any prior retail, cash-handling, or customer service experience</a:t>
            </a:r>
            <a:endParaRPr sz="1700">
              <a:solidFill>
                <a:schemeClr val="dk1"/>
              </a:solidFill>
              <a:latin typeface="Cambria"/>
              <a:ea typeface="Cambria"/>
              <a:cs typeface="Cambria"/>
              <a:sym typeface="Cambria"/>
            </a:endParaRPr>
          </a:p>
          <a:p>
            <a:pPr indent="-336550" lvl="0" marL="457200" rtl="0" algn="l">
              <a:spcBef>
                <a:spcPts val="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Provides a resume</a:t>
            </a:r>
            <a:endParaRPr sz="2100">
              <a:solidFill>
                <a:schemeClr val="dk1"/>
              </a:solidFill>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21" name="Shape 221"/>
        <p:cNvGrpSpPr/>
        <p:nvPr/>
      </p:nvGrpSpPr>
      <p:grpSpPr>
        <a:xfrm>
          <a:off x="0" y="0"/>
          <a:ext cx="0" cy="0"/>
          <a:chOff x="0" y="0"/>
          <a:chExt cx="0" cy="0"/>
        </a:xfrm>
      </p:grpSpPr>
      <p:sp>
        <p:nvSpPr>
          <p:cNvPr id="222" name="Google Shape;222;p36"/>
          <p:cNvSpPr txBox="1"/>
          <p:nvPr>
            <p:ph idx="1" type="body"/>
          </p:nvPr>
        </p:nvSpPr>
        <p:spPr>
          <a:xfrm>
            <a:off x="311700" y="819925"/>
            <a:ext cx="8520600" cy="3683700"/>
          </a:xfrm>
          <a:prstGeom prst="rect">
            <a:avLst/>
          </a:prstGeom>
        </p:spPr>
        <p:txBody>
          <a:bodyPr anchorCtr="0" anchor="t" bIns="91425" lIns="91425" spcFirstLastPara="1" rIns="91425" wrap="square" tIns="91425">
            <a:noAutofit/>
          </a:bodyPr>
          <a:lstStyle/>
          <a:p>
            <a:pPr indent="-361950" lvl="0" marL="457200" rtl="0" algn="l">
              <a:lnSpc>
                <a:spcPct val="100000"/>
              </a:lnSpc>
              <a:spcBef>
                <a:spcPts val="0"/>
              </a:spcBef>
              <a:spcAft>
                <a:spcPts val="0"/>
              </a:spcAft>
              <a:buClr>
                <a:schemeClr val="dk1"/>
              </a:buClr>
              <a:buSzPts val="2100"/>
              <a:buFont typeface="Cambria"/>
              <a:buAutoNum type="arabicPeriod"/>
            </a:pPr>
            <a:r>
              <a:rPr lang="en" sz="2100">
                <a:solidFill>
                  <a:schemeClr val="dk1"/>
                </a:solidFill>
                <a:latin typeface="Cambria"/>
                <a:ea typeface="Cambria"/>
                <a:cs typeface="Cambria"/>
                <a:sym typeface="Cambria"/>
              </a:rPr>
              <a:t>Flexible Scheduling</a:t>
            </a:r>
            <a:endParaRPr sz="2100">
              <a:solidFill>
                <a:schemeClr val="dk1"/>
              </a:solidFill>
              <a:latin typeface="Cambria"/>
              <a:ea typeface="Cambria"/>
              <a:cs typeface="Cambria"/>
              <a:sym typeface="Cambria"/>
            </a:endParaRPr>
          </a:p>
          <a:p>
            <a:pPr indent="-342900" lvl="1" marL="914400" rtl="0" algn="l">
              <a:lnSpc>
                <a:spcPct val="100000"/>
              </a:lnSpc>
              <a:spcBef>
                <a:spcPts val="1000"/>
              </a:spcBef>
              <a:spcAft>
                <a:spcPts val="0"/>
              </a:spcAft>
              <a:buClr>
                <a:schemeClr val="dk1"/>
              </a:buClr>
              <a:buSzPts val="1800"/>
              <a:buFont typeface="Cambria"/>
              <a:buAutoNum type="alphaLcPeriod"/>
            </a:pPr>
            <a:r>
              <a:rPr lang="en" sz="1800">
                <a:solidFill>
                  <a:schemeClr val="dk1"/>
                </a:solidFill>
                <a:latin typeface="Cambria"/>
                <a:ea typeface="Cambria"/>
                <a:cs typeface="Cambria"/>
                <a:sym typeface="Cambria"/>
              </a:rPr>
              <a:t>autonomy and work-life balance</a:t>
            </a:r>
            <a:endParaRPr sz="1800">
              <a:solidFill>
                <a:schemeClr val="dk1"/>
              </a:solidFill>
              <a:latin typeface="Cambria"/>
              <a:ea typeface="Cambria"/>
              <a:cs typeface="Cambria"/>
              <a:sym typeface="Cambria"/>
            </a:endParaRPr>
          </a:p>
          <a:p>
            <a:pPr indent="-361950" lvl="0" marL="457200" rtl="0" algn="l">
              <a:lnSpc>
                <a:spcPct val="100000"/>
              </a:lnSpc>
              <a:spcBef>
                <a:spcPts val="1000"/>
              </a:spcBef>
              <a:spcAft>
                <a:spcPts val="0"/>
              </a:spcAft>
              <a:buClr>
                <a:schemeClr val="dk1"/>
              </a:buClr>
              <a:buSzPts val="2100"/>
              <a:buFont typeface="Cambria"/>
              <a:buAutoNum type="arabicPeriod"/>
            </a:pPr>
            <a:r>
              <a:rPr lang="en" sz="2100">
                <a:solidFill>
                  <a:schemeClr val="dk1"/>
                </a:solidFill>
                <a:latin typeface="Cambria"/>
                <a:ea typeface="Cambria"/>
                <a:cs typeface="Cambria"/>
                <a:sym typeface="Cambria"/>
              </a:rPr>
              <a:t>Bi-Annual Salary Promotions</a:t>
            </a:r>
            <a:endParaRPr sz="2100">
              <a:solidFill>
                <a:schemeClr val="dk1"/>
              </a:solidFill>
              <a:latin typeface="Cambria"/>
              <a:ea typeface="Cambria"/>
              <a:cs typeface="Cambria"/>
              <a:sym typeface="Cambria"/>
            </a:endParaRPr>
          </a:p>
          <a:p>
            <a:pPr indent="-342900" lvl="1" marL="914400" rtl="0" algn="l">
              <a:lnSpc>
                <a:spcPct val="100000"/>
              </a:lnSpc>
              <a:spcBef>
                <a:spcPts val="1000"/>
              </a:spcBef>
              <a:spcAft>
                <a:spcPts val="0"/>
              </a:spcAft>
              <a:buClr>
                <a:schemeClr val="dk1"/>
              </a:buClr>
              <a:buSzPts val="1800"/>
              <a:buFont typeface="Cambria"/>
              <a:buAutoNum type="alphaLcPeriod"/>
            </a:pPr>
            <a:r>
              <a:rPr lang="en" sz="1800">
                <a:solidFill>
                  <a:schemeClr val="dk1"/>
                </a:solidFill>
                <a:latin typeface="Cambria"/>
                <a:ea typeface="Cambria"/>
                <a:cs typeface="Cambria"/>
                <a:sym typeface="Cambria"/>
              </a:rPr>
              <a:t>physiological needs, security, and growth</a:t>
            </a:r>
            <a:endParaRPr sz="1800">
              <a:solidFill>
                <a:schemeClr val="dk1"/>
              </a:solidFill>
              <a:latin typeface="Cambria"/>
              <a:ea typeface="Cambria"/>
              <a:cs typeface="Cambria"/>
              <a:sym typeface="Cambria"/>
            </a:endParaRPr>
          </a:p>
          <a:p>
            <a:pPr indent="-361950" lvl="0" marL="457200" rtl="0" algn="l">
              <a:lnSpc>
                <a:spcPct val="100000"/>
              </a:lnSpc>
              <a:spcBef>
                <a:spcPts val="1000"/>
              </a:spcBef>
              <a:spcAft>
                <a:spcPts val="0"/>
              </a:spcAft>
              <a:buClr>
                <a:schemeClr val="dk1"/>
              </a:buClr>
              <a:buSzPts val="2100"/>
              <a:buFont typeface="Cambria"/>
              <a:buAutoNum type="arabicPeriod"/>
            </a:pPr>
            <a:r>
              <a:rPr lang="en" sz="2100">
                <a:solidFill>
                  <a:schemeClr val="dk1"/>
                </a:solidFill>
                <a:latin typeface="Cambria"/>
                <a:ea typeface="Cambria"/>
                <a:cs typeface="Cambria"/>
                <a:sym typeface="Cambria"/>
              </a:rPr>
              <a:t>Anonymous</a:t>
            </a:r>
            <a:r>
              <a:rPr lang="en" sz="2100">
                <a:solidFill>
                  <a:schemeClr val="dk1"/>
                </a:solidFill>
                <a:latin typeface="Cambria"/>
                <a:ea typeface="Cambria"/>
                <a:cs typeface="Cambria"/>
                <a:sym typeface="Cambria"/>
              </a:rPr>
              <a:t> Suggestion box</a:t>
            </a:r>
            <a:endParaRPr sz="2100">
              <a:solidFill>
                <a:schemeClr val="dk1"/>
              </a:solidFill>
              <a:latin typeface="Cambria"/>
              <a:ea typeface="Cambria"/>
              <a:cs typeface="Cambria"/>
              <a:sym typeface="Cambria"/>
            </a:endParaRPr>
          </a:p>
          <a:p>
            <a:pPr indent="-342900" lvl="1" marL="914400" rtl="0" algn="l">
              <a:lnSpc>
                <a:spcPct val="100000"/>
              </a:lnSpc>
              <a:spcBef>
                <a:spcPts val="1000"/>
              </a:spcBef>
              <a:spcAft>
                <a:spcPts val="0"/>
              </a:spcAft>
              <a:buClr>
                <a:schemeClr val="dk1"/>
              </a:buClr>
              <a:buSzPts val="1800"/>
              <a:buFont typeface="Cambria"/>
              <a:buAutoNum type="alphaLcPeriod"/>
            </a:pPr>
            <a:r>
              <a:rPr lang="en" sz="1800">
                <a:solidFill>
                  <a:schemeClr val="dk1"/>
                </a:solidFill>
                <a:latin typeface="Cambria"/>
                <a:ea typeface="Cambria"/>
                <a:cs typeface="Cambria"/>
                <a:sym typeface="Cambria"/>
              </a:rPr>
              <a:t>psychological safety and organizational belonging</a:t>
            </a:r>
            <a:endParaRPr sz="1800">
              <a:solidFill>
                <a:schemeClr val="dk1"/>
              </a:solidFill>
              <a:latin typeface="Cambria"/>
              <a:ea typeface="Cambria"/>
              <a:cs typeface="Cambria"/>
              <a:sym typeface="Cambria"/>
            </a:endParaRPr>
          </a:p>
          <a:p>
            <a:pPr indent="-361950" lvl="0" marL="457200" rtl="0" algn="l">
              <a:lnSpc>
                <a:spcPct val="100000"/>
              </a:lnSpc>
              <a:spcBef>
                <a:spcPts val="1000"/>
              </a:spcBef>
              <a:spcAft>
                <a:spcPts val="0"/>
              </a:spcAft>
              <a:buClr>
                <a:schemeClr val="dk1"/>
              </a:buClr>
              <a:buSzPts val="2100"/>
              <a:buFont typeface="Cambria"/>
              <a:buAutoNum type="arabicPeriod"/>
            </a:pPr>
            <a:r>
              <a:rPr lang="en" sz="2100">
                <a:solidFill>
                  <a:schemeClr val="dk1"/>
                </a:solidFill>
                <a:latin typeface="Cambria"/>
                <a:ea typeface="Cambria"/>
                <a:cs typeface="Cambria"/>
                <a:sym typeface="Cambria"/>
              </a:rPr>
              <a:t>Benefits (such as reserved parking)</a:t>
            </a:r>
            <a:endParaRPr sz="2100">
              <a:solidFill>
                <a:schemeClr val="dk1"/>
              </a:solidFill>
              <a:latin typeface="Cambria"/>
              <a:ea typeface="Cambria"/>
              <a:cs typeface="Cambria"/>
              <a:sym typeface="Cambria"/>
            </a:endParaRPr>
          </a:p>
          <a:p>
            <a:pPr indent="-342900" lvl="1" marL="914400" rtl="0" algn="l">
              <a:lnSpc>
                <a:spcPct val="100000"/>
              </a:lnSpc>
              <a:spcBef>
                <a:spcPts val="1000"/>
              </a:spcBef>
              <a:spcAft>
                <a:spcPts val="0"/>
              </a:spcAft>
              <a:buClr>
                <a:schemeClr val="dk1"/>
              </a:buClr>
              <a:buSzPts val="1800"/>
              <a:buFont typeface="Cambria"/>
              <a:buAutoNum type="alphaLcPeriod"/>
            </a:pPr>
            <a:r>
              <a:rPr lang="en" sz="1800">
                <a:solidFill>
                  <a:schemeClr val="dk1"/>
                </a:solidFill>
                <a:latin typeface="Cambria"/>
                <a:ea typeface="Cambria"/>
                <a:cs typeface="Cambria"/>
                <a:sym typeface="Cambria"/>
              </a:rPr>
              <a:t>convenience perks and general happiness </a:t>
            </a:r>
            <a:endParaRPr sz="1800">
              <a:solidFill>
                <a:schemeClr val="dk1"/>
              </a:solidFill>
              <a:latin typeface="Cambria"/>
              <a:ea typeface="Cambria"/>
              <a:cs typeface="Cambria"/>
              <a:sym typeface="Cambria"/>
            </a:endParaRPr>
          </a:p>
          <a:p>
            <a:pPr indent="-361950" lvl="0" marL="457200" rtl="0" algn="l">
              <a:lnSpc>
                <a:spcPct val="100000"/>
              </a:lnSpc>
              <a:spcBef>
                <a:spcPts val="1000"/>
              </a:spcBef>
              <a:spcAft>
                <a:spcPts val="0"/>
              </a:spcAft>
              <a:buClr>
                <a:schemeClr val="dk1"/>
              </a:buClr>
              <a:buSzPts val="2100"/>
              <a:buFont typeface="Cambria"/>
              <a:buAutoNum type="arabicPeriod"/>
            </a:pPr>
            <a:r>
              <a:rPr lang="en" sz="2100">
                <a:solidFill>
                  <a:schemeClr val="dk1"/>
                </a:solidFill>
                <a:latin typeface="Cambria"/>
                <a:ea typeface="Cambria"/>
                <a:cs typeface="Cambria"/>
                <a:sym typeface="Cambria"/>
              </a:rPr>
              <a:t>Employee of the Month (Praise as well as bonus)</a:t>
            </a:r>
            <a:endParaRPr sz="2100">
              <a:solidFill>
                <a:schemeClr val="dk1"/>
              </a:solidFill>
              <a:latin typeface="Cambria"/>
              <a:ea typeface="Cambria"/>
              <a:cs typeface="Cambria"/>
              <a:sym typeface="Cambria"/>
            </a:endParaRPr>
          </a:p>
          <a:p>
            <a:pPr indent="-342900" lvl="1" marL="914400" rtl="0" algn="l">
              <a:lnSpc>
                <a:spcPct val="100000"/>
              </a:lnSpc>
              <a:spcBef>
                <a:spcPts val="1000"/>
              </a:spcBef>
              <a:spcAft>
                <a:spcPts val="1000"/>
              </a:spcAft>
              <a:buClr>
                <a:schemeClr val="dk1"/>
              </a:buClr>
              <a:buSzPts val="1800"/>
              <a:buFont typeface="Cambria"/>
              <a:buAutoNum type="alphaLcPeriod"/>
            </a:pPr>
            <a:r>
              <a:rPr lang="en" sz="1800">
                <a:solidFill>
                  <a:schemeClr val="dk1"/>
                </a:solidFill>
                <a:latin typeface="Cambria"/>
                <a:ea typeface="Cambria"/>
                <a:cs typeface="Cambria"/>
                <a:sym typeface="Cambria"/>
              </a:rPr>
              <a:t>extrinsic (money) and intrinsic (recognition) motivators</a:t>
            </a:r>
            <a:endParaRPr sz="1800">
              <a:solidFill>
                <a:schemeClr val="dk1"/>
              </a:solidFill>
              <a:latin typeface="Cambria"/>
              <a:ea typeface="Cambria"/>
              <a:cs typeface="Cambria"/>
              <a:sym typeface="Cambria"/>
            </a:endParaRPr>
          </a:p>
        </p:txBody>
      </p:sp>
      <p:sp>
        <p:nvSpPr>
          <p:cNvPr id="223" name="Google Shape;223;p36"/>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36"/>
          <p:cNvSpPr txBox="1"/>
          <p:nvPr>
            <p:ph type="title"/>
          </p:nvPr>
        </p:nvSpPr>
        <p:spPr>
          <a:xfrm>
            <a:off x="52476" y="86100"/>
            <a:ext cx="8920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chemeClr val="lt1"/>
                </a:solidFill>
                <a:latin typeface="Playfair Display"/>
                <a:ea typeface="Playfair Display"/>
                <a:cs typeface="Playfair Display"/>
                <a:sym typeface="Playfair Display"/>
              </a:rPr>
              <a:t>Employee motivation initiatives</a:t>
            </a:r>
            <a:endParaRPr sz="3020">
              <a:solidFill>
                <a:schemeClr val="lt1"/>
              </a:solidFill>
              <a:latin typeface="Playfair Display"/>
              <a:ea typeface="Playfair Display"/>
              <a:cs typeface="Playfair Display"/>
              <a:sym typeface="Playfair Displ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28" name="Shape 228"/>
        <p:cNvGrpSpPr/>
        <p:nvPr/>
      </p:nvGrpSpPr>
      <p:grpSpPr>
        <a:xfrm>
          <a:off x="0" y="0"/>
          <a:ext cx="0" cy="0"/>
          <a:chOff x="0" y="0"/>
          <a:chExt cx="0" cy="0"/>
        </a:xfrm>
      </p:grpSpPr>
      <p:sp>
        <p:nvSpPr>
          <p:cNvPr id="229" name="Google Shape;229;p37"/>
          <p:cNvSpPr txBox="1"/>
          <p:nvPr>
            <p:ph idx="1" type="body"/>
          </p:nvPr>
        </p:nvSpPr>
        <p:spPr>
          <a:xfrm>
            <a:off x="311700" y="717498"/>
            <a:ext cx="8520600" cy="4328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300">
                <a:solidFill>
                  <a:schemeClr val="dk1"/>
                </a:solidFill>
                <a:latin typeface="Cambria"/>
                <a:ea typeface="Cambria"/>
                <a:cs typeface="Cambria"/>
                <a:sym typeface="Cambria"/>
              </a:rPr>
              <a:t>Dear Current Employees, </a:t>
            </a:r>
            <a:endParaRPr sz="1300">
              <a:solidFill>
                <a:schemeClr val="dk1"/>
              </a:solidFill>
              <a:latin typeface="Cambria"/>
              <a:ea typeface="Cambria"/>
              <a:cs typeface="Cambria"/>
              <a:sym typeface="Cambria"/>
            </a:endParaRPr>
          </a:p>
          <a:p>
            <a:pPr indent="0" lvl="0" marL="0" rtl="0" algn="l">
              <a:lnSpc>
                <a:spcPct val="100000"/>
              </a:lnSpc>
              <a:spcBef>
                <a:spcPts val="800"/>
              </a:spcBef>
              <a:spcAft>
                <a:spcPts val="0"/>
              </a:spcAft>
              <a:buClr>
                <a:schemeClr val="dk1"/>
              </a:buClr>
              <a:buSzPts val="1100"/>
              <a:buFont typeface="Arial"/>
              <a:buNone/>
            </a:pPr>
            <a:r>
              <a:rPr lang="en" sz="1300">
                <a:solidFill>
                  <a:schemeClr val="dk1"/>
                </a:solidFill>
                <a:latin typeface="Cambria"/>
                <a:ea typeface="Cambria"/>
                <a:cs typeface="Cambria"/>
                <a:sym typeface="Cambria"/>
              </a:rPr>
              <a:t>    </a:t>
            </a:r>
            <a:r>
              <a:rPr i="1" lang="en" sz="1300">
                <a:solidFill>
                  <a:schemeClr val="dk1"/>
                </a:solidFill>
                <a:latin typeface="Cambria"/>
                <a:ea typeface="Cambria"/>
                <a:cs typeface="Cambria"/>
                <a:sym typeface="Cambria"/>
              </a:rPr>
              <a:t>  It is with a heavy heart to announce the departure of two of our employees; however, to promote greater morale within the company, here are some of the benefits that staying with us provides. </a:t>
            </a:r>
            <a:endParaRPr i="1" sz="1300">
              <a:solidFill>
                <a:schemeClr val="dk1"/>
              </a:solidFill>
              <a:latin typeface="Cambria"/>
              <a:ea typeface="Cambria"/>
              <a:cs typeface="Cambria"/>
              <a:sym typeface="Cambria"/>
            </a:endParaRPr>
          </a:p>
          <a:p>
            <a:pPr indent="0" lvl="0" marL="0" rtl="0" algn="l">
              <a:lnSpc>
                <a:spcPct val="100000"/>
              </a:lnSpc>
              <a:spcBef>
                <a:spcPts val="800"/>
              </a:spcBef>
              <a:spcAft>
                <a:spcPts val="0"/>
              </a:spcAft>
              <a:buClr>
                <a:schemeClr val="dk1"/>
              </a:buClr>
              <a:buSzPts val="1100"/>
              <a:buFont typeface="Arial"/>
              <a:buNone/>
            </a:pPr>
            <a:r>
              <a:rPr lang="en" sz="1300">
                <a:solidFill>
                  <a:schemeClr val="dk1"/>
                </a:solidFill>
                <a:latin typeface="Cambria"/>
                <a:ea typeface="Cambria"/>
                <a:cs typeface="Cambria"/>
                <a:sym typeface="Cambria"/>
              </a:rPr>
              <a:t>      We provide </a:t>
            </a:r>
            <a:r>
              <a:rPr i="1" lang="en" sz="1300">
                <a:solidFill>
                  <a:schemeClr val="dk1"/>
                </a:solidFill>
                <a:latin typeface="Cambria"/>
                <a:ea typeface="Cambria"/>
                <a:cs typeface="Cambria"/>
                <a:sym typeface="Cambria"/>
              </a:rPr>
              <a:t>flexible scheduling</a:t>
            </a:r>
            <a:r>
              <a:rPr lang="en" sz="1300">
                <a:solidFill>
                  <a:schemeClr val="dk1"/>
                </a:solidFill>
                <a:latin typeface="Cambria"/>
                <a:ea typeface="Cambria"/>
                <a:cs typeface="Cambria"/>
                <a:sym typeface="Cambria"/>
              </a:rPr>
              <a:t> to all employees—we understand many of you are students with busy schedules and we value your time and academics. </a:t>
            </a:r>
            <a:endParaRPr sz="13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latin typeface="Cambria"/>
                <a:ea typeface="Cambria"/>
                <a:cs typeface="Cambria"/>
                <a:sym typeface="Cambria"/>
              </a:rPr>
              <a:t>      Another thing we are adding in the hopes that we never have to deal with these unfortunate departures again is </a:t>
            </a:r>
            <a:r>
              <a:rPr i="1" lang="en" sz="1300">
                <a:solidFill>
                  <a:schemeClr val="dk1"/>
                </a:solidFill>
                <a:latin typeface="Cambria"/>
                <a:ea typeface="Cambria"/>
                <a:cs typeface="Cambria"/>
                <a:sym typeface="Cambria"/>
              </a:rPr>
              <a:t>suggestion spots</a:t>
            </a:r>
            <a:r>
              <a:rPr lang="en" sz="1300">
                <a:solidFill>
                  <a:schemeClr val="dk1"/>
                </a:solidFill>
                <a:latin typeface="Cambria"/>
                <a:ea typeface="Cambria"/>
                <a:cs typeface="Cambria"/>
                <a:sym typeface="Cambria"/>
              </a:rPr>
              <a:t>. All of you will be able to provide </a:t>
            </a:r>
            <a:r>
              <a:rPr i="1" lang="en" sz="1300">
                <a:solidFill>
                  <a:schemeClr val="dk1"/>
                </a:solidFill>
                <a:latin typeface="Cambria"/>
                <a:ea typeface="Cambria"/>
                <a:cs typeface="Cambria"/>
                <a:sym typeface="Cambria"/>
              </a:rPr>
              <a:t>anonymous suggestions</a:t>
            </a:r>
            <a:r>
              <a:rPr lang="en" sz="1300">
                <a:solidFill>
                  <a:schemeClr val="dk1"/>
                </a:solidFill>
                <a:latin typeface="Cambria"/>
                <a:ea typeface="Cambria"/>
                <a:cs typeface="Cambria"/>
                <a:sym typeface="Cambria"/>
              </a:rPr>
              <a:t> for improvements or issues you see, and hopefully, you will never have to resign in order for your voice to be heard. </a:t>
            </a:r>
            <a:endParaRPr sz="13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latin typeface="Cambria"/>
                <a:ea typeface="Cambria"/>
                <a:cs typeface="Cambria"/>
                <a:sym typeface="Cambria"/>
              </a:rPr>
              <a:t>      This job isn’t without benefits either: by being a</a:t>
            </a:r>
            <a:r>
              <a:rPr i="1" lang="en" sz="1300">
                <a:solidFill>
                  <a:schemeClr val="dk1"/>
                </a:solidFill>
                <a:latin typeface="Cambria"/>
                <a:ea typeface="Cambria"/>
                <a:cs typeface="Cambria"/>
                <a:sym typeface="Cambria"/>
              </a:rPr>
              <a:t> loyal employee </a:t>
            </a:r>
            <a:r>
              <a:rPr lang="en" sz="1300">
                <a:solidFill>
                  <a:schemeClr val="dk1"/>
                </a:solidFill>
                <a:latin typeface="Cambria"/>
                <a:ea typeface="Cambria"/>
                <a:cs typeface="Cambria"/>
                <a:sym typeface="Cambria"/>
              </a:rPr>
              <a:t>of our business, you receive </a:t>
            </a:r>
            <a:r>
              <a:rPr i="1" lang="en" sz="1300">
                <a:solidFill>
                  <a:schemeClr val="dk1"/>
                </a:solidFill>
                <a:latin typeface="Cambria"/>
                <a:ea typeface="Cambria"/>
                <a:cs typeface="Cambria"/>
                <a:sym typeface="Cambria"/>
              </a:rPr>
              <a:t>campus privileges</a:t>
            </a:r>
            <a:r>
              <a:rPr lang="en" sz="1300">
                <a:solidFill>
                  <a:schemeClr val="dk1"/>
                </a:solidFill>
                <a:latin typeface="Cambria"/>
                <a:ea typeface="Cambria"/>
                <a:cs typeface="Cambria"/>
                <a:sym typeface="Cambria"/>
              </a:rPr>
              <a:t>, such as </a:t>
            </a:r>
            <a:r>
              <a:rPr i="1" lang="en" sz="1300">
                <a:solidFill>
                  <a:schemeClr val="dk1"/>
                </a:solidFill>
                <a:latin typeface="Cambria"/>
                <a:ea typeface="Cambria"/>
                <a:cs typeface="Cambria"/>
                <a:sym typeface="Cambria"/>
              </a:rPr>
              <a:t>free private parking</a:t>
            </a:r>
            <a:r>
              <a:rPr lang="en" sz="1300">
                <a:solidFill>
                  <a:schemeClr val="dk1"/>
                </a:solidFill>
                <a:latin typeface="Cambria"/>
                <a:ea typeface="Cambria"/>
                <a:cs typeface="Cambria"/>
                <a:sym typeface="Cambria"/>
              </a:rPr>
              <a:t> on campus lots and office perks.</a:t>
            </a:r>
            <a:endParaRPr sz="13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latin typeface="Cambria"/>
                <a:ea typeface="Cambria"/>
                <a:cs typeface="Cambria"/>
                <a:sym typeface="Cambria"/>
              </a:rPr>
              <a:t>     </a:t>
            </a:r>
            <a:r>
              <a:rPr i="1" lang="en" sz="1300">
                <a:solidFill>
                  <a:schemeClr val="dk1"/>
                </a:solidFill>
                <a:latin typeface="Cambria"/>
                <a:ea typeface="Cambria"/>
                <a:cs typeface="Cambria"/>
                <a:sym typeface="Cambria"/>
              </a:rPr>
              <a:t> Working hard pays off with us as employee of the month bonuses </a:t>
            </a:r>
            <a:r>
              <a:rPr lang="en" sz="1300">
                <a:solidFill>
                  <a:schemeClr val="dk1"/>
                </a:solidFill>
                <a:latin typeface="Cambria"/>
                <a:ea typeface="Cambria"/>
                <a:cs typeface="Cambria"/>
                <a:sym typeface="Cambria"/>
              </a:rPr>
              <a:t>are provided. These bonuses can range from </a:t>
            </a:r>
            <a:r>
              <a:rPr i="1" lang="en" sz="1300">
                <a:solidFill>
                  <a:schemeClr val="dk1"/>
                </a:solidFill>
                <a:latin typeface="Cambria"/>
                <a:ea typeface="Cambria"/>
                <a:cs typeface="Cambria"/>
                <a:sym typeface="Cambria"/>
              </a:rPr>
              <a:t>wage increases, extra cash, public </a:t>
            </a:r>
            <a:r>
              <a:rPr i="1" lang="en" sz="1300">
                <a:solidFill>
                  <a:schemeClr val="dk1"/>
                </a:solidFill>
                <a:latin typeface="Cambria"/>
                <a:ea typeface="Cambria"/>
                <a:cs typeface="Cambria"/>
                <a:sym typeface="Cambria"/>
              </a:rPr>
              <a:t>shoutouts,</a:t>
            </a:r>
            <a:r>
              <a:rPr lang="en" sz="1300">
                <a:solidFill>
                  <a:schemeClr val="dk1"/>
                </a:solidFill>
                <a:latin typeface="Cambria"/>
                <a:ea typeface="Cambria"/>
                <a:cs typeface="Cambria"/>
                <a:sym typeface="Cambria"/>
              </a:rPr>
              <a:t> and more. In addition to these benefits, a </a:t>
            </a:r>
            <a:r>
              <a:rPr i="1" lang="en" sz="1300">
                <a:solidFill>
                  <a:schemeClr val="dk1"/>
                </a:solidFill>
                <a:latin typeface="Cambria"/>
                <a:ea typeface="Cambria"/>
                <a:cs typeface="Cambria"/>
                <a:sym typeface="Cambria"/>
              </a:rPr>
              <a:t>raise every six-months</a:t>
            </a:r>
            <a:r>
              <a:rPr lang="en" sz="1300">
                <a:solidFill>
                  <a:schemeClr val="dk1"/>
                </a:solidFill>
                <a:latin typeface="Cambria"/>
                <a:ea typeface="Cambria"/>
                <a:cs typeface="Cambria"/>
                <a:sym typeface="Cambria"/>
              </a:rPr>
              <a:t> is expected for all of our employees. </a:t>
            </a:r>
            <a:endParaRPr sz="13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1100"/>
              <a:buFont typeface="Arial"/>
              <a:buNone/>
            </a:pPr>
            <a:r>
              <a:rPr i="1" lang="en" sz="1300">
                <a:solidFill>
                  <a:schemeClr val="dk1"/>
                </a:solidFill>
                <a:latin typeface="Cambria"/>
                <a:ea typeface="Cambria"/>
                <a:cs typeface="Cambria"/>
                <a:sym typeface="Cambria"/>
              </a:rPr>
              <a:t>With these, we hope for you to value our company and for us to not only gain your respect but your loyalty as well. </a:t>
            </a:r>
            <a:endParaRPr i="1" sz="13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latin typeface="Cambria"/>
                <a:ea typeface="Cambria"/>
                <a:cs typeface="Cambria"/>
                <a:sym typeface="Cambria"/>
              </a:rPr>
              <a:t>    Kind Regards, </a:t>
            </a:r>
            <a:endParaRPr sz="1300">
              <a:solidFill>
                <a:schemeClr val="dk1"/>
              </a:solidFill>
              <a:latin typeface="Cambria"/>
              <a:ea typeface="Cambria"/>
              <a:cs typeface="Cambria"/>
              <a:sym typeface="Cambria"/>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latin typeface="Cambria"/>
                <a:ea typeface="Cambria"/>
                <a:cs typeface="Cambria"/>
                <a:sym typeface="Cambria"/>
              </a:rPr>
              <a:t>         Your Boss</a:t>
            </a:r>
            <a:endParaRPr sz="1300">
              <a:solidFill>
                <a:schemeClr val="dk1"/>
              </a:solidFill>
              <a:latin typeface="Cambria"/>
              <a:ea typeface="Cambria"/>
              <a:cs typeface="Cambria"/>
              <a:sym typeface="Cambria"/>
            </a:endParaRPr>
          </a:p>
        </p:txBody>
      </p:sp>
      <p:sp>
        <p:nvSpPr>
          <p:cNvPr id="230" name="Google Shape;230;p37"/>
          <p:cNvSpPr/>
          <p:nvPr/>
        </p:nvSpPr>
        <p:spPr>
          <a:xfrm>
            <a:off x="0" y="1"/>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37"/>
          <p:cNvSpPr txBox="1"/>
          <p:nvPr>
            <p:ph type="title"/>
          </p:nvPr>
        </p:nvSpPr>
        <p:spPr>
          <a:xfrm>
            <a:off x="52476" y="86100"/>
            <a:ext cx="8920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solidFill>
                  <a:schemeClr val="lt1"/>
                </a:solidFill>
                <a:latin typeface="Playfair Display"/>
                <a:ea typeface="Playfair Display"/>
                <a:cs typeface="Playfair Display"/>
                <a:sym typeface="Playfair Display"/>
              </a:rPr>
              <a:t>Key Employees Departure </a:t>
            </a:r>
            <a:r>
              <a:rPr lang="en" sz="2520">
                <a:solidFill>
                  <a:schemeClr val="lt1"/>
                </a:solidFill>
                <a:latin typeface="Playfair Display"/>
                <a:ea typeface="Playfair Display"/>
                <a:cs typeface="Playfair Display"/>
                <a:sym typeface="Playfair Display"/>
              </a:rPr>
              <a:t>Announcement</a:t>
            </a:r>
            <a:endParaRPr sz="2520">
              <a:solidFill>
                <a:schemeClr val="lt1"/>
              </a:solidFill>
              <a:latin typeface="Playfair Display"/>
              <a:ea typeface="Playfair Display"/>
              <a:cs typeface="Playfair Display"/>
              <a:sym typeface="Playfair Displ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35" name="Shape 235"/>
        <p:cNvGrpSpPr/>
        <p:nvPr/>
      </p:nvGrpSpPr>
      <p:grpSpPr>
        <a:xfrm>
          <a:off x="0" y="0"/>
          <a:ext cx="0" cy="0"/>
          <a:chOff x="0" y="0"/>
          <a:chExt cx="0" cy="0"/>
        </a:xfrm>
      </p:grpSpPr>
      <p:sp>
        <p:nvSpPr>
          <p:cNvPr id="236" name="Google Shape;236;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7350" lvl="0" marL="457200" rtl="0" algn="l">
              <a:lnSpc>
                <a:spcPct val="100000"/>
              </a:lnSpc>
              <a:spcBef>
                <a:spcPts val="0"/>
              </a:spcBef>
              <a:spcAft>
                <a:spcPts val="0"/>
              </a:spcAft>
              <a:buClr>
                <a:schemeClr val="dk1"/>
              </a:buClr>
              <a:buSzPts val="2500"/>
              <a:buFont typeface="Cambria"/>
              <a:buChar char="●"/>
            </a:pPr>
            <a:r>
              <a:rPr lang="en" sz="2500">
                <a:solidFill>
                  <a:schemeClr val="dk1"/>
                </a:solidFill>
                <a:latin typeface="Cambria"/>
                <a:ea typeface="Cambria"/>
                <a:cs typeface="Cambria"/>
                <a:sym typeface="Cambria"/>
              </a:rPr>
              <a:t>Provide strong leadership and clear communication</a:t>
            </a:r>
            <a:endParaRPr sz="2500">
              <a:solidFill>
                <a:schemeClr val="dk1"/>
              </a:solidFill>
              <a:latin typeface="Cambria"/>
              <a:ea typeface="Cambria"/>
              <a:cs typeface="Cambria"/>
              <a:sym typeface="Cambria"/>
            </a:endParaRPr>
          </a:p>
          <a:p>
            <a:pPr indent="-387350" lvl="0" marL="457200" rtl="0" algn="l">
              <a:lnSpc>
                <a:spcPct val="100000"/>
              </a:lnSpc>
              <a:spcBef>
                <a:spcPts val="0"/>
              </a:spcBef>
              <a:spcAft>
                <a:spcPts val="0"/>
              </a:spcAft>
              <a:buClr>
                <a:schemeClr val="dk1"/>
              </a:buClr>
              <a:buSzPts val="2500"/>
              <a:buFont typeface="Cambria"/>
              <a:buChar char="●"/>
            </a:pPr>
            <a:r>
              <a:rPr lang="en" sz="2500">
                <a:solidFill>
                  <a:schemeClr val="dk1"/>
                </a:solidFill>
                <a:latin typeface="Cambria"/>
                <a:ea typeface="Cambria"/>
                <a:cs typeface="Cambria"/>
                <a:sym typeface="Cambria"/>
              </a:rPr>
              <a:t>Offer professional opportunities</a:t>
            </a:r>
            <a:endParaRPr sz="2500">
              <a:solidFill>
                <a:schemeClr val="dk1"/>
              </a:solidFill>
              <a:latin typeface="Cambria"/>
              <a:ea typeface="Cambria"/>
              <a:cs typeface="Cambria"/>
              <a:sym typeface="Cambria"/>
            </a:endParaRPr>
          </a:p>
          <a:p>
            <a:pPr indent="-387350" lvl="0" marL="457200" rtl="0" algn="l">
              <a:lnSpc>
                <a:spcPct val="100000"/>
              </a:lnSpc>
              <a:spcBef>
                <a:spcPts val="0"/>
              </a:spcBef>
              <a:spcAft>
                <a:spcPts val="0"/>
              </a:spcAft>
              <a:buClr>
                <a:schemeClr val="dk1"/>
              </a:buClr>
              <a:buSzPts val="2500"/>
              <a:buFont typeface="Cambria"/>
              <a:buChar char="●"/>
            </a:pPr>
            <a:r>
              <a:rPr lang="en" sz="2500">
                <a:solidFill>
                  <a:schemeClr val="dk1"/>
                </a:solidFill>
                <a:latin typeface="Cambria"/>
                <a:ea typeface="Cambria"/>
                <a:cs typeface="Cambria"/>
                <a:sym typeface="Cambria"/>
              </a:rPr>
              <a:t>Promote collaborative team culture </a:t>
            </a:r>
            <a:endParaRPr sz="2500">
              <a:solidFill>
                <a:schemeClr val="dk1"/>
              </a:solidFill>
              <a:latin typeface="Cambria"/>
              <a:ea typeface="Cambria"/>
              <a:cs typeface="Cambria"/>
              <a:sym typeface="Cambria"/>
            </a:endParaRPr>
          </a:p>
          <a:p>
            <a:pPr indent="-387350" lvl="0" marL="457200" rtl="0" algn="l">
              <a:lnSpc>
                <a:spcPct val="100000"/>
              </a:lnSpc>
              <a:spcBef>
                <a:spcPts val="0"/>
              </a:spcBef>
              <a:spcAft>
                <a:spcPts val="0"/>
              </a:spcAft>
              <a:buClr>
                <a:schemeClr val="dk1"/>
              </a:buClr>
              <a:buSzPts val="2500"/>
              <a:buFont typeface="Cambria"/>
              <a:buChar char="●"/>
            </a:pPr>
            <a:r>
              <a:rPr lang="en" sz="2500">
                <a:solidFill>
                  <a:schemeClr val="dk1"/>
                </a:solidFill>
                <a:latin typeface="Cambria"/>
                <a:ea typeface="Cambria"/>
                <a:cs typeface="Cambria"/>
                <a:sym typeface="Cambria"/>
              </a:rPr>
              <a:t>We’d create formal and anonymous complaint system as well as a place for employees to provide constructive suggestions, allowing for their voices to be heard and be impactful</a:t>
            </a:r>
            <a:endParaRPr sz="2500">
              <a:solidFill>
                <a:schemeClr val="dk1"/>
              </a:solidFill>
              <a:latin typeface="Cambria"/>
              <a:ea typeface="Cambria"/>
              <a:cs typeface="Cambria"/>
              <a:sym typeface="Cambria"/>
            </a:endParaRPr>
          </a:p>
          <a:p>
            <a:pPr indent="-387350" lvl="0" marL="457200" rtl="0" algn="l">
              <a:lnSpc>
                <a:spcPct val="100000"/>
              </a:lnSpc>
              <a:spcBef>
                <a:spcPts val="0"/>
              </a:spcBef>
              <a:spcAft>
                <a:spcPts val="0"/>
              </a:spcAft>
              <a:buClr>
                <a:schemeClr val="dk1"/>
              </a:buClr>
              <a:buSzPts val="2500"/>
              <a:buFont typeface="Cambria"/>
              <a:buChar char="●"/>
            </a:pPr>
            <a:r>
              <a:rPr lang="en" sz="2500">
                <a:solidFill>
                  <a:schemeClr val="dk1"/>
                </a:solidFill>
                <a:latin typeface="Cambria"/>
                <a:ea typeface="Cambria"/>
                <a:cs typeface="Cambria"/>
                <a:sym typeface="Cambria"/>
              </a:rPr>
              <a:t>We would provide employees with the authority and resources to start projects without management cues</a:t>
            </a:r>
            <a:endParaRPr sz="2500">
              <a:solidFill>
                <a:schemeClr val="dk1"/>
              </a:solidFill>
              <a:latin typeface="Cambria"/>
              <a:ea typeface="Cambria"/>
              <a:cs typeface="Cambria"/>
              <a:sym typeface="Cambria"/>
            </a:endParaRPr>
          </a:p>
          <a:p>
            <a:pPr indent="0" lvl="0" marL="0" rtl="0" algn="l">
              <a:lnSpc>
                <a:spcPct val="100000"/>
              </a:lnSpc>
              <a:spcBef>
                <a:spcPts val="0"/>
              </a:spcBef>
              <a:spcAft>
                <a:spcPts val="0"/>
              </a:spcAft>
              <a:buNone/>
            </a:pPr>
            <a:r>
              <a:t/>
            </a:r>
            <a:endParaRPr sz="2500">
              <a:solidFill>
                <a:schemeClr val="dk1"/>
              </a:solidFill>
              <a:latin typeface="Cambria"/>
              <a:ea typeface="Cambria"/>
              <a:cs typeface="Cambria"/>
              <a:sym typeface="Cambria"/>
            </a:endParaRPr>
          </a:p>
        </p:txBody>
      </p:sp>
      <p:sp>
        <p:nvSpPr>
          <p:cNvPr id="237" name="Google Shape;237;p38"/>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38"/>
          <p:cNvSpPr txBox="1"/>
          <p:nvPr>
            <p:ph type="title"/>
          </p:nvPr>
        </p:nvSpPr>
        <p:spPr>
          <a:xfrm>
            <a:off x="26251" y="86100"/>
            <a:ext cx="909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chemeClr val="lt1"/>
                </a:solidFill>
                <a:latin typeface="Playfair Display"/>
                <a:ea typeface="Playfair Display"/>
                <a:cs typeface="Playfair Display"/>
                <a:sym typeface="Playfair Display"/>
              </a:rPr>
              <a:t>Key actions selected to achieve high levels of employee engagement</a:t>
            </a:r>
            <a:endParaRPr sz="2320">
              <a:solidFill>
                <a:schemeClr val="lt1"/>
              </a:solidFill>
              <a:latin typeface="Playfair Display"/>
              <a:ea typeface="Playfair Display"/>
              <a:cs typeface="Playfair Display"/>
              <a:sym typeface="Playfair Displ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42" name="Shape 242"/>
        <p:cNvGrpSpPr/>
        <p:nvPr/>
      </p:nvGrpSpPr>
      <p:grpSpPr>
        <a:xfrm>
          <a:off x="0" y="0"/>
          <a:ext cx="0" cy="0"/>
          <a:chOff x="0" y="0"/>
          <a:chExt cx="0" cy="0"/>
        </a:xfrm>
      </p:grpSpPr>
      <p:graphicFrame>
        <p:nvGraphicFramePr>
          <p:cNvPr id="243" name="Google Shape;243;p39"/>
          <p:cNvGraphicFramePr/>
          <p:nvPr/>
        </p:nvGraphicFramePr>
        <p:xfrm>
          <a:off x="0" y="744900"/>
          <a:ext cx="3000000" cy="3000000"/>
        </p:xfrm>
        <a:graphic>
          <a:graphicData uri="http://schemas.openxmlformats.org/drawingml/2006/table">
            <a:tbl>
              <a:tblPr>
                <a:noFill/>
                <a:tableStyleId>{13C6D87B-30AE-4615-ADF6-2AAA587C7379}</a:tableStyleId>
              </a:tblPr>
              <a:tblGrid>
                <a:gridCol w="2186375"/>
                <a:gridCol w="1447800"/>
                <a:gridCol w="1447800"/>
                <a:gridCol w="1447800"/>
                <a:gridCol w="2614225"/>
              </a:tblGrid>
              <a:tr h="393400">
                <a:tc>
                  <a:txBody>
                    <a:bodyPr/>
                    <a:lstStyle/>
                    <a:p>
                      <a:pPr indent="0" lvl="0" marL="0" rtl="0" algn="ctr">
                        <a:spcBef>
                          <a:spcPts val="0"/>
                        </a:spcBef>
                        <a:spcAft>
                          <a:spcPts val="0"/>
                        </a:spcAft>
                        <a:buNone/>
                      </a:pPr>
                      <a:r>
                        <a:rPr b="1" lang="en">
                          <a:latin typeface="Cambria"/>
                          <a:ea typeface="Cambria"/>
                          <a:cs typeface="Cambria"/>
                          <a:sym typeface="Cambria"/>
                        </a:rPr>
                        <a:t>Suppliers</a:t>
                      </a:r>
                      <a:endParaRPr b="1">
                        <a:latin typeface="Cambria"/>
                        <a:ea typeface="Cambria"/>
                        <a:cs typeface="Cambria"/>
                        <a:sym typeface="Cambria"/>
                      </a:endParaRPr>
                    </a:p>
                  </a:txBody>
                  <a:tcPr marT="91425" marB="91425" marR="91425" marL="91425">
                    <a:solidFill>
                      <a:srgbClr val="D9E2F3"/>
                    </a:solidFill>
                  </a:tcPr>
                </a:tc>
                <a:tc>
                  <a:txBody>
                    <a:bodyPr/>
                    <a:lstStyle/>
                    <a:p>
                      <a:pPr indent="0" lvl="0" marL="0" rtl="0" algn="ctr">
                        <a:spcBef>
                          <a:spcPts val="0"/>
                        </a:spcBef>
                        <a:spcAft>
                          <a:spcPts val="0"/>
                        </a:spcAft>
                        <a:buNone/>
                      </a:pPr>
                      <a:r>
                        <a:rPr b="1" lang="en">
                          <a:latin typeface="Cambria"/>
                          <a:ea typeface="Cambria"/>
                          <a:cs typeface="Cambria"/>
                          <a:sym typeface="Cambria"/>
                        </a:rPr>
                        <a:t>Inputs</a:t>
                      </a:r>
                      <a:endParaRPr b="1">
                        <a:latin typeface="Cambria"/>
                        <a:ea typeface="Cambria"/>
                        <a:cs typeface="Cambria"/>
                        <a:sym typeface="Cambria"/>
                      </a:endParaRPr>
                    </a:p>
                  </a:txBody>
                  <a:tcPr marT="91425" marB="91425" marR="91425" marL="91425">
                    <a:solidFill>
                      <a:srgbClr val="D9E2F3"/>
                    </a:solidFill>
                  </a:tcPr>
                </a:tc>
                <a:tc>
                  <a:txBody>
                    <a:bodyPr/>
                    <a:lstStyle/>
                    <a:p>
                      <a:pPr indent="0" lvl="0" marL="0" rtl="0" algn="ctr">
                        <a:spcBef>
                          <a:spcPts val="0"/>
                        </a:spcBef>
                        <a:spcAft>
                          <a:spcPts val="0"/>
                        </a:spcAft>
                        <a:buNone/>
                      </a:pPr>
                      <a:r>
                        <a:rPr b="1" lang="en">
                          <a:latin typeface="Cambria"/>
                          <a:ea typeface="Cambria"/>
                          <a:cs typeface="Cambria"/>
                          <a:sym typeface="Cambria"/>
                        </a:rPr>
                        <a:t>P</a:t>
                      </a:r>
                      <a:r>
                        <a:rPr b="1" lang="en">
                          <a:latin typeface="Cambria"/>
                          <a:ea typeface="Cambria"/>
                          <a:cs typeface="Cambria"/>
                          <a:sym typeface="Cambria"/>
                        </a:rPr>
                        <a:t>rocesses</a:t>
                      </a:r>
                      <a:endParaRPr b="1">
                        <a:latin typeface="Cambria"/>
                        <a:ea typeface="Cambria"/>
                        <a:cs typeface="Cambria"/>
                        <a:sym typeface="Cambria"/>
                      </a:endParaRPr>
                    </a:p>
                  </a:txBody>
                  <a:tcPr marT="91425" marB="91425" marR="91425" marL="91425">
                    <a:solidFill>
                      <a:srgbClr val="D9E2F3"/>
                    </a:solidFill>
                  </a:tcPr>
                </a:tc>
                <a:tc>
                  <a:txBody>
                    <a:bodyPr/>
                    <a:lstStyle/>
                    <a:p>
                      <a:pPr indent="0" lvl="0" marL="0" rtl="0" algn="ctr">
                        <a:spcBef>
                          <a:spcPts val="0"/>
                        </a:spcBef>
                        <a:spcAft>
                          <a:spcPts val="0"/>
                        </a:spcAft>
                        <a:buNone/>
                      </a:pPr>
                      <a:r>
                        <a:rPr b="1" lang="en">
                          <a:latin typeface="Cambria"/>
                          <a:ea typeface="Cambria"/>
                          <a:cs typeface="Cambria"/>
                          <a:sym typeface="Cambria"/>
                        </a:rPr>
                        <a:t>Outputs</a:t>
                      </a:r>
                      <a:endParaRPr b="1">
                        <a:latin typeface="Cambria"/>
                        <a:ea typeface="Cambria"/>
                        <a:cs typeface="Cambria"/>
                        <a:sym typeface="Cambria"/>
                      </a:endParaRPr>
                    </a:p>
                  </a:txBody>
                  <a:tcPr marT="91425" marB="91425" marR="91425" marL="91425">
                    <a:solidFill>
                      <a:srgbClr val="D9E2F3"/>
                    </a:solidFill>
                  </a:tcPr>
                </a:tc>
                <a:tc>
                  <a:txBody>
                    <a:bodyPr/>
                    <a:lstStyle/>
                    <a:p>
                      <a:pPr indent="0" lvl="0" marL="0" rtl="0" algn="ctr">
                        <a:spcBef>
                          <a:spcPts val="0"/>
                        </a:spcBef>
                        <a:spcAft>
                          <a:spcPts val="0"/>
                        </a:spcAft>
                        <a:buNone/>
                      </a:pPr>
                      <a:r>
                        <a:rPr b="1" lang="en">
                          <a:latin typeface="Cambria"/>
                          <a:ea typeface="Cambria"/>
                          <a:cs typeface="Cambria"/>
                          <a:sym typeface="Cambria"/>
                        </a:rPr>
                        <a:t>Customers</a:t>
                      </a:r>
                      <a:endParaRPr b="1">
                        <a:latin typeface="Cambria"/>
                        <a:ea typeface="Cambria"/>
                        <a:cs typeface="Cambria"/>
                        <a:sym typeface="Cambria"/>
                      </a:endParaRPr>
                    </a:p>
                  </a:txBody>
                  <a:tcPr marT="91425" marB="91425" marR="91425" marL="91425">
                    <a:solidFill>
                      <a:srgbClr val="D9E2F3"/>
                    </a:solidFill>
                  </a:tcPr>
                </a:tc>
              </a:tr>
              <a:tr h="4002400">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University Students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Donators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Alumni</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The University</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Local Labor Market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Online Marketplace</a:t>
                      </a:r>
                      <a:endParaRPr>
                        <a:latin typeface="Cambria"/>
                        <a:ea typeface="Cambria"/>
                        <a:cs typeface="Cambria"/>
                        <a:sym typeface="Cambria"/>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Physical location with space to hold and advertise our goods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Trained employees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Marketing/ advertising</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Used goods</a:t>
                      </a:r>
                      <a:endParaRPr>
                        <a:latin typeface="Cambria"/>
                        <a:ea typeface="Cambria"/>
                        <a:cs typeface="Cambria"/>
                        <a:sym typeface="Cambria"/>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Collect/source inventory from suppliers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Organize items and check quality</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Market the goods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Sell quality items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  </a:t>
                      </a:r>
                      <a:endParaRPr>
                        <a:latin typeface="Cambria"/>
                        <a:ea typeface="Cambria"/>
                        <a:cs typeface="Cambria"/>
                        <a:sym typeface="Cambria"/>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Friendly service</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Good deals for items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Quality goods that genuinely help</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Purchased inventory</a:t>
                      </a:r>
                      <a:endParaRPr>
                        <a:latin typeface="Cambria"/>
                        <a:ea typeface="Cambria"/>
                        <a:cs typeface="Cambria"/>
                        <a:sym typeface="Cambria"/>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
                          <a:solidFill>
                            <a:schemeClr val="dk1"/>
                          </a:solidFill>
                          <a:latin typeface="Cambria"/>
                          <a:ea typeface="Cambria"/>
                          <a:cs typeface="Cambria"/>
                          <a:sym typeface="Cambria"/>
                        </a:rPr>
                        <a:t>Who:</a:t>
                      </a:r>
                      <a:r>
                        <a:rPr lang="en">
                          <a:solidFill>
                            <a:schemeClr val="dk1"/>
                          </a:solidFill>
                          <a:latin typeface="Cambria"/>
                          <a:ea typeface="Cambria"/>
                          <a:cs typeface="Cambria"/>
                          <a:sym typeface="Cambria"/>
                        </a:rPr>
                        <a:t> Rutgers Students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b="1" lang="en">
                          <a:solidFill>
                            <a:schemeClr val="dk1"/>
                          </a:solidFill>
                          <a:latin typeface="Cambria"/>
                          <a:ea typeface="Cambria"/>
                          <a:cs typeface="Cambria"/>
                          <a:sym typeface="Cambria"/>
                        </a:rPr>
                        <a:t>Desired Customer Behaviors</a:t>
                      </a:r>
                      <a:r>
                        <a:rPr lang="en">
                          <a:solidFill>
                            <a:schemeClr val="dk1"/>
                          </a:solidFill>
                          <a:latin typeface="Cambria"/>
                          <a:ea typeface="Cambria"/>
                          <a:cs typeface="Cambria"/>
                          <a:sym typeface="Cambria"/>
                        </a:rPr>
                        <a:t>:</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a:t>
                      </a:r>
                      <a:r>
                        <a:rPr lang="en" sz="700">
                          <a:solidFill>
                            <a:schemeClr val="dk1"/>
                          </a:solidFill>
                          <a:latin typeface="Cambria"/>
                          <a:ea typeface="Cambria"/>
                          <a:cs typeface="Cambria"/>
                          <a:sym typeface="Cambria"/>
                        </a:rPr>
                        <a:t>        </a:t>
                      </a:r>
                      <a:r>
                        <a:rPr lang="en">
                          <a:solidFill>
                            <a:schemeClr val="dk1"/>
                          </a:solidFill>
                          <a:latin typeface="Cambria"/>
                          <a:ea typeface="Cambria"/>
                          <a:cs typeface="Cambria"/>
                          <a:sym typeface="Cambria"/>
                        </a:rPr>
                        <a:t>Repeated business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a:t>
                      </a:r>
                      <a:r>
                        <a:rPr lang="en" sz="700">
                          <a:solidFill>
                            <a:schemeClr val="dk1"/>
                          </a:solidFill>
                          <a:latin typeface="Cambria"/>
                          <a:ea typeface="Cambria"/>
                          <a:cs typeface="Cambria"/>
                          <a:sym typeface="Cambria"/>
                        </a:rPr>
                        <a:t>        </a:t>
                      </a:r>
                      <a:r>
                        <a:rPr lang="en">
                          <a:solidFill>
                            <a:schemeClr val="dk1"/>
                          </a:solidFill>
                          <a:latin typeface="Cambria"/>
                          <a:ea typeface="Cambria"/>
                          <a:cs typeface="Cambria"/>
                          <a:sym typeface="Cambria"/>
                        </a:rPr>
                        <a:t>Referrals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a:t>
                      </a:r>
                      <a:r>
                        <a:rPr lang="en" sz="700">
                          <a:solidFill>
                            <a:schemeClr val="dk1"/>
                          </a:solidFill>
                          <a:latin typeface="Cambria"/>
                          <a:ea typeface="Cambria"/>
                          <a:cs typeface="Cambria"/>
                          <a:sym typeface="Cambria"/>
                        </a:rPr>
                        <a:t>        </a:t>
                      </a:r>
                      <a:r>
                        <a:rPr lang="en">
                          <a:solidFill>
                            <a:schemeClr val="dk1"/>
                          </a:solidFill>
                          <a:latin typeface="Cambria"/>
                          <a:ea typeface="Cambria"/>
                          <a:cs typeface="Cambria"/>
                          <a:sym typeface="Cambria"/>
                        </a:rPr>
                        <a:t>High ratings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a:t>
                      </a:r>
                      <a:r>
                        <a:rPr lang="en" sz="700">
                          <a:solidFill>
                            <a:schemeClr val="dk1"/>
                          </a:solidFill>
                          <a:latin typeface="Cambria"/>
                          <a:ea typeface="Cambria"/>
                          <a:cs typeface="Cambria"/>
                          <a:sym typeface="Cambria"/>
                        </a:rPr>
                        <a:t>        </a:t>
                      </a:r>
                      <a:r>
                        <a:rPr lang="en">
                          <a:solidFill>
                            <a:schemeClr val="dk1"/>
                          </a:solidFill>
                          <a:latin typeface="Cambria"/>
                          <a:ea typeface="Cambria"/>
                          <a:cs typeface="Cambria"/>
                          <a:sym typeface="Cambria"/>
                        </a:rPr>
                        <a:t>Infrequent returns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b="1" lang="en">
                          <a:solidFill>
                            <a:schemeClr val="dk1"/>
                          </a:solidFill>
                          <a:latin typeface="Cambria"/>
                          <a:ea typeface="Cambria"/>
                          <a:cs typeface="Cambria"/>
                          <a:sym typeface="Cambria"/>
                        </a:rPr>
                        <a:t>Customer requirements</a:t>
                      </a:r>
                      <a:r>
                        <a:rPr lang="en">
                          <a:solidFill>
                            <a:schemeClr val="dk1"/>
                          </a:solidFill>
                          <a:latin typeface="Cambria"/>
                          <a:ea typeface="Cambria"/>
                          <a:cs typeface="Cambria"/>
                          <a:sym typeface="Cambria"/>
                        </a:rPr>
                        <a:t>:</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a:t>
                      </a:r>
                      <a:r>
                        <a:rPr lang="en" sz="700">
                          <a:solidFill>
                            <a:schemeClr val="dk1"/>
                          </a:solidFill>
                          <a:latin typeface="Cambria"/>
                          <a:ea typeface="Cambria"/>
                          <a:cs typeface="Cambria"/>
                          <a:sym typeface="Cambria"/>
                        </a:rPr>
                        <a:t>        </a:t>
                      </a:r>
                      <a:r>
                        <a:rPr lang="en">
                          <a:solidFill>
                            <a:schemeClr val="dk1"/>
                          </a:solidFill>
                          <a:latin typeface="Cambria"/>
                          <a:ea typeface="Cambria"/>
                          <a:cs typeface="Cambria"/>
                          <a:sym typeface="Cambria"/>
                        </a:rPr>
                        <a:t>Quality goods and accurate goods</a:t>
                      </a:r>
                      <a:endParaRPr>
                        <a:solidFill>
                          <a:schemeClr val="dk1"/>
                        </a:solidFill>
                        <a:latin typeface="Cambria"/>
                        <a:ea typeface="Cambria"/>
                        <a:cs typeface="Cambria"/>
                        <a:sym typeface="Cambria"/>
                      </a:endParaRPr>
                    </a:p>
                    <a:p>
                      <a:pPr indent="-317500" lvl="0" marL="457200" rtl="0" algn="ctr">
                        <a:spcBef>
                          <a:spcPts val="0"/>
                        </a:spcBef>
                        <a:spcAft>
                          <a:spcPts val="0"/>
                        </a:spcAft>
                        <a:buClr>
                          <a:schemeClr val="dk1"/>
                        </a:buClr>
                        <a:buSzPts val="1400"/>
                        <a:buFont typeface="Cambria"/>
                        <a:buChar char="-"/>
                      </a:pPr>
                      <a:r>
                        <a:rPr lang="en">
                          <a:solidFill>
                            <a:schemeClr val="dk1"/>
                          </a:solidFill>
                          <a:latin typeface="Cambria"/>
                          <a:ea typeface="Cambria"/>
                          <a:cs typeface="Cambria"/>
                          <a:sym typeface="Cambria"/>
                        </a:rPr>
                        <a:t>Fair valued goods</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a:t>
                      </a:r>
                      <a:r>
                        <a:rPr lang="en" sz="700">
                          <a:solidFill>
                            <a:schemeClr val="dk1"/>
                          </a:solidFill>
                          <a:latin typeface="Cambria"/>
                          <a:ea typeface="Cambria"/>
                          <a:cs typeface="Cambria"/>
                          <a:sym typeface="Cambria"/>
                        </a:rPr>
                        <a:t>        </a:t>
                      </a:r>
                      <a:r>
                        <a:rPr lang="en">
                          <a:solidFill>
                            <a:schemeClr val="dk1"/>
                          </a:solidFill>
                          <a:latin typeface="Cambria"/>
                          <a:ea typeface="Cambria"/>
                          <a:cs typeface="Cambria"/>
                          <a:sym typeface="Cambria"/>
                        </a:rPr>
                        <a:t>Good service</a:t>
                      </a:r>
                      <a:endParaRPr>
                        <a:solidFill>
                          <a:schemeClr val="dk1"/>
                        </a:solidFill>
                        <a:latin typeface="Cambria"/>
                        <a:ea typeface="Cambria"/>
                        <a:cs typeface="Cambria"/>
                        <a:sym typeface="Cambria"/>
                      </a:endParaRPr>
                    </a:p>
                    <a:p>
                      <a:pPr indent="0" lvl="0" marL="0" rtl="0" algn="ctr">
                        <a:spcBef>
                          <a:spcPts val="0"/>
                        </a:spcBef>
                        <a:spcAft>
                          <a:spcPts val="0"/>
                        </a:spcAft>
                        <a:buClr>
                          <a:schemeClr val="dk1"/>
                        </a:buClr>
                        <a:buSzPts val="1100"/>
                        <a:buFont typeface="Arial"/>
                        <a:buNone/>
                      </a:pPr>
                      <a:r>
                        <a:rPr lang="en">
                          <a:solidFill>
                            <a:schemeClr val="dk1"/>
                          </a:solidFill>
                          <a:latin typeface="Cambria"/>
                          <a:ea typeface="Cambria"/>
                          <a:cs typeface="Cambria"/>
                          <a:sym typeface="Cambria"/>
                        </a:rPr>
                        <a:t>-</a:t>
                      </a:r>
                      <a:r>
                        <a:rPr lang="en" sz="700">
                          <a:solidFill>
                            <a:schemeClr val="dk1"/>
                          </a:solidFill>
                          <a:latin typeface="Cambria"/>
                          <a:ea typeface="Cambria"/>
                          <a:cs typeface="Cambria"/>
                          <a:sym typeface="Cambria"/>
                        </a:rPr>
                        <a:t>        </a:t>
                      </a:r>
                      <a:r>
                        <a:rPr lang="en">
                          <a:solidFill>
                            <a:schemeClr val="dk1"/>
                          </a:solidFill>
                          <a:latin typeface="Cambria"/>
                          <a:ea typeface="Cambria"/>
                          <a:cs typeface="Cambria"/>
                          <a:sym typeface="Cambria"/>
                        </a:rPr>
                        <a:t>Ease of purchase</a:t>
                      </a:r>
                      <a:endParaRPr>
                        <a:latin typeface="Cambria"/>
                        <a:ea typeface="Cambria"/>
                        <a:cs typeface="Cambria"/>
                        <a:sym typeface="Cambria"/>
                      </a:endParaRPr>
                    </a:p>
                  </a:txBody>
                  <a:tcPr marT="91425" marB="91425" marR="91425" marL="91425"/>
                </a:tc>
              </a:tr>
            </a:tbl>
          </a:graphicData>
        </a:graphic>
      </p:graphicFrame>
      <p:sp>
        <p:nvSpPr>
          <p:cNvPr id="244" name="Google Shape;244;p39"/>
          <p:cNvSpPr/>
          <p:nvPr/>
        </p:nvSpPr>
        <p:spPr>
          <a:xfrm>
            <a:off x="0" y="0"/>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39"/>
          <p:cNvSpPr txBox="1"/>
          <p:nvPr>
            <p:ph type="title"/>
          </p:nvPr>
        </p:nvSpPr>
        <p:spPr>
          <a:xfrm>
            <a:off x="26251" y="86100"/>
            <a:ext cx="9091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020">
                <a:solidFill>
                  <a:schemeClr val="lt1"/>
                </a:solidFill>
                <a:latin typeface="Playfair Display"/>
                <a:ea typeface="Playfair Display"/>
                <a:cs typeface="Playfair Display"/>
                <a:sym typeface="Playfair Display"/>
              </a:rPr>
              <a:t>SIPOC</a:t>
            </a:r>
            <a:endParaRPr sz="3020">
              <a:solidFill>
                <a:schemeClr val="lt1"/>
              </a:solidFill>
              <a:latin typeface="Playfair Display"/>
              <a:ea typeface="Playfair Display"/>
              <a:cs typeface="Playfair Display"/>
              <a:sym typeface="Playfair Displa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9" name="Shape 249"/>
        <p:cNvGrpSpPr/>
        <p:nvPr/>
      </p:nvGrpSpPr>
      <p:grpSpPr>
        <a:xfrm>
          <a:off x="0" y="0"/>
          <a:ext cx="0" cy="0"/>
          <a:chOff x="0" y="0"/>
          <a:chExt cx="0" cy="0"/>
        </a:xfrm>
      </p:grpSpPr>
      <p:pic>
        <p:nvPicPr>
          <p:cNvPr id="250" name="Google Shape;250;p40"/>
          <p:cNvPicPr preferRelativeResize="0"/>
          <p:nvPr/>
        </p:nvPicPr>
        <p:blipFill>
          <a:blip r:embed="rId3">
            <a:alphaModFix/>
          </a:blip>
          <a:stretch>
            <a:fillRect/>
          </a:stretch>
        </p:blipFill>
        <p:spPr>
          <a:xfrm>
            <a:off x="655688" y="658800"/>
            <a:ext cx="7832619" cy="4484701"/>
          </a:xfrm>
          <a:prstGeom prst="rect">
            <a:avLst/>
          </a:prstGeom>
          <a:noFill/>
          <a:ln>
            <a:noFill/>
          </a:ln>
        </p:spPr>
      </p:pic>
      <p:sp>
        <p:nvSpPr>
          <p:cNvPr id="251" name="Google Shape;251;p40"/>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40"/>
          <p:cNvSpPr txBox="1"/>
          <p:nvPr>
            <p:ph idx="4294967295" type="title"/>
          </p:nvPr>
        </p:nvSpPr>
        <p:spPr>
          <a:xfrm>
            <a:off x="26251" y="86100"/>
            <a:ext cx="9091500" cy="572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SzPts val="990"/>
              <a:buNone/>
            </a:pPr>
            <a:r>
              <a:rPr lang="en" sz="3020">
                <a:solidFill>
                  <a:schemeClr val="lt1"/>
                </a:solidFill>
                <a:latin typeface="Playfair Display"/>
                <a:ea typeface="Playfair Display"/>
                <a:cs typeface="Playfair Display"/>
                <a:sym typeface="Playfair Display"/>
              </a:rPr>
              <a:t>Effectiveness Measurement Chart</a:t>
            </a:r>
            <a:endParaRPr sz="3020">
              <a:solidFill>
                <a:schemeClr val="lt1"/>
              </a:solidFill>
              <a:latin typeface="Playfair Display"/>
              <a:ea typeface="Playfair Display"/>
              <a:cs typeface="Playfair Display"/>
              <a:sym typeface="Playfair Displa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6" name="Shape 256"/>
        <p:cNvGrpSpPr/>
        <p:nvPr/>
      </p:nvGrpSpPr>
      <p:grpSpPr>
        <a:xfrm>
          <a:off x="0" y="0"/>
          <a:ext cx="0" cy="0"/>
          <a:chOff x="0" y="0"/>
          <a:chExt cx="0" cy="0"/>
        </a:xfrm>
      </p:grpSpPr>
      <p:sp>
        <p:nvSpPr>
          <p:cNvPr id="257" name="Google Shape;257;p41"/>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41"/>
          <p:cNvSpPr txBox="1"/>
          <p:nvPr>
            <p:ph idx="4294967295" type="title"/>
          </p:nvPr>
        </p:nvSpPr>
        <p:spPr>
          <a:xfrm>
            <a:off x="26251" y="86100"/>
            <a:ext cx="9091500" cy="572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SzPts val="990"/>
              <a:buNone/>
            </a:pPr>
            <a:r>
              <a:rPr lang="en" sz="3020">
                <a:solidFill>
                  <a:schemeClr val="lt1"/>
                </a:solidFill>
                <a:latin typeface="Playfair Display"/>
                <a:ea typeface="Playfair Display"/>
                <a:cs typeface="Playfair Display"/>
                <a:sym typeface="Playfair Display"/>
              </a:rPr>
              <a:t>Efficiency Measurement Chart</a:t>
            </a:r>
            <a:endParaRPr sz="3020">
              <a:solidFill>
                <a:schemeClr val="lt1"/>
              </a:solidFill>
              <a:latin typeface="Playfair Display"/>
              <a:ea typeface="Playfair Display"/>
              <a:cs typeface="Playfair Display"/>
              <a:sym typeface="Playfair Display"/>
            </a:endParaRPr>
          </a:p>
        </p:txBody>
      </p:sp>
      <p:pic>
        <p:nvPicPr>
          <p:cNvPr id="259" name="Google Shape;259;p41"/>
          <p:cNvPicPr preferRelativeResize="0"/>
          <p:nvPr/>
        </p:nvPicPr>
        <p:blipFill>
          <a:blip r:embed="rId3">
            <a:alphaModFix/>
          </a:blip>
          <a:stretch>
            <a:fillRect/>
          </a:stretch>
        </p:blipFill>
        <p:spPr>
          <a:xfrm>
            <a:off x="751700" y="744900"/>
            <a:ext cx="7640599" cy="43985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63" name="Shape 263"/>
        <p:cNvGrpSpPr/>
        <p:nvPr/>
      </p:nvGrpSpPr>
      <p:grpSpPr>
        <a:xfrm>
          <a:off x="0" y="0"/>
          <a:ext cx="0" cy="0"/>
          <a:chOff x="0" y="0"/>
          <a:chExt cx="0" cy="0"/>
        </a:xfrm>
      </p:grpSpPr>
      <p:sp>
        <p:nvSpPr>
          <p:cNvPr id="264" name="Google Shape;264;p42"/>
          <p:cNvSpPr txBox="1"/>
          <p:nvPr>
            <p:ph idx="1" type="body"/>
          </p:nvPr>
        </p:nvSpPr>
        <p:spPr>
          <a:xfrm>
            <a:off x="311700" y="903950"/>
            <a:ext cx="8520600" cy="4151700"/>
          </a:xfrm>
          <a:prstGeom prst="rect">
            <a:avLst/>
          </a:prstGeom>
        </p:spPr>
        <p:txBody>
          <a:bodyPr anchorCtr="0" anchor="t" bIns="91425" lIns="91425" spcFirstLastPara="1" rIns="91425" wrap="square" tIns="91425">
            <a:noAutofit/>
          </a:bodyPr>
          <a:lstStyle/>
          <a:p>
            <a:pPr indent="-336550" lvl="0" marL="457200" rtl="0" algn="l">
              <a:spcBef>
                <a:spcPts val="100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Create an employee training program to help our employees on the sales floor get customers to make more purchases</a:t>
            </a:r>
            <a:endParaRPr sz="1700">
              <a:solidFill>
                <a:schemeClr val="dk1"/>
              </a:solidFill>
              <a:latin typeface="Cambria"/>
              <a:ea typeface="Cambria"/>
              <a:cs typeface="Cambria"/>
              <a:sym typeface="Cambria"/>
            </a:endParaRPr>
          </a:p>
          <a:p>
            <a:pPr indent="-336550" lvl="1" marL="914400" rtl="0" algn="l">
              <a:spcBef>
                <a:spcPts val="100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Allows our employees to have training on how to increase sales while catering to our customers’ needs and budget</a:t>
            </a:r>
            <a:endParaRPr sz="1700">
              <a:solidFill>
                <a:schemeClr val="dk1"/>
              </a:solidFill>
              <a:latin typeface="Cambria"/>
              <a:ea typeface="Cambria"/>
              <a:cs typeface="Cambria"/>
              <a:sym typeface="Cambria"/>
            </a:endParaRPr>
          </a:p>
          <a:p>
            <a:pPr indent="-336550" lvl="0" marL="457200" rtl="0" algn="l">
              <a:spcBef>
                <a:spcPts val="100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Pick up items from suppliers directly to get brand-new items in stock</a:t>
            </a:r>
            <a:endParaRPr sz="1700">
              <a:solidFill>
                <a:schemeClr val="dk1"/>
              </a:solidFill>
              <a:latin typeface="Cambria"/>
              <a:ea typeface="Cambria"/>
              <a:cs typeface="Cambria"/>
              <a:sym typeface="Cambria"/>
            </a:endParaRPr>
          </a:p>
          <a:p>
            <a:pPr indent="-336550" lvl="1" marL="914400" rtl="0" algn="l">
              <a:spcBef>
                <a:spcPts val="100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This will add new inventory, exciting customers, and include a new input of suppliers, both of which will help get students who are weary on used items</a:t>
            </a:r>
            <a:endParaRPr sz="1700">
              <a:solidFill>
                <a:schemeClr val="dk1"/>
              </a:solidFill>
              <a:latin typeface="Cambria"/>
              <a:ea typeface="Cambria"/>
              <a:cs typeface="Cambria"/>
              <a:sym typeface="Cambria"/>
            </a:endParaRPr>
          </a:p>
          <a:p>
            <a:pPr indent="-336550" lvl="0" marL="457200" rtl="0" algn="l">
              <a:spcBef>
                <a:spcPts val="100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Adding a loyalty program, such as a membership club or punch cards with a discount after 10 visits </a:t>
            </a:r>
            <a:endParaRPr sz="1700">
              <a:solidFill>
                <a:schemeClr val="dk1"/>
              </a:solidFill>
              <a:latin typeface="Cambria"/>
              <a:ea typeface="Cambria"/>
              <a:cs typeface="Cambria"/>
              <a:sym typeface="Cambria"/>
            </a:endParaRPr>
          </a:p>
          <a:p>
            <a:pPr indent="-336550" lvl="1" marL="914400" rtl="0" algn="l">
              <a:spcBef>
                <a:spcPts val="1000"/>
              </a:spcBef>
              <a:spcAft>
                <a:spcPts val="0"/>
              </a:spcAft>
              <a:buClr>
                <a:schemeClr val="dk1"/>
              </a:buClr>
              <a:buSzPts val="1700"/>
              <a:buFont typeface="Cambria"/>
              <a:buChar char="○"/>
            </a:pPr>
            <a:r>
              <a:rPr lang="en" sz="1700">
                <a:solidFill>
                  <a:schemeClr val="dk1"/>
                </a:solidFill>
                <a:latin typeface="Cambria"/>
                <a:ea typeface="Cambria"/>
                <a:cs typeface="Cambria"/>
                <a:sym typeface="Cambria"/>
              </a:rPr>
              <a:t>Gives us a way to show how we value our customers and give discounts to our loyal ones </a:t>
            </a:r>
            <a:endParaRPr sz="3100">
              <a:latin typeface="Cambria"/>
              <a:ea typeface="Cambria"/>
              <a:cs typeface="Cambria"/>
              <a:sym typeface="Cambria"/>
            </a:endParaRPr>
          </a:p>
        </p:txBody>
      </p:sp>
      <p:sp>
        <p:nvSpPr>
          <p:cNvPr id="265" name="Google Shape;265;p42"/>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42"/>
          <p:cNvSpPr txBox="1"/>
          <p:nvPr>
            <p:ph type="title"/>
          </p:nvPr>
        </p:nvSpPr>
        <p:spPr>
          <a:xfrm>
            <a:off x="26251" y="86100"/>
            <a:ext cx="909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chemeClr val="lt1"/>
                </a:solidFill>
                <a:latin typeface="Playfair Display"/>
                <a:ea typeface="Playfair Display"/>
                <a:cs typeface="Playfair Display"/>
                <a:sym typeface="Playfair Display"/>
              </a:rPr>
              <a:t>Key Initiative to Improve the Process</a:t>
            </a:r>
            <a:endParaRPr sz="3020">
              <a:solidFill>
                <a:schemeClr val="lt1"/>
              </a:solidFill>
              <a:latin typeface="Playfair Display"/>
              <a:ea typeface="Playfair Display"/>
              <a:cs typeface="Playfair Display"/>
              <a:sym typeface="Playfair Displ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70" name="Shape 270"/>
        <p:cNvGrpSpPr/>
        <p:nvPr/>
      </p:nvGrpSpPr>
      <p:grpSpPr>
        <a:xfrm>
          <a:off x="0" y="0"/>
          <a:ext cx="0" cy="0"/>
          <a:chOff x="0" y="0"/>
          <a:chExt cx="0" cy="0"/>
        </a:xfrm>
      </p:grpSpPr>
      <p:sp>
        <p:nvSpPr>
          <p:cNvPr id="271" name="Google Shape;271;p43"/>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2" name="Google Shape;272;p43"/>
          <p:cNvSpPr txBox="1"/>
          <p:nvPr>
            <p:ph type="title"/>
          </p:nvPr>
        </p:nvSpPr>
        <p:spPr>
          <a:xfrm>
            <a:off x="26251" y="86100"/>
            <a:ext cx="909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chemeClr val="lt1"/>
                </a:solidFill>
                <a:latin typeface="Playfair Display"/>
                <a:ea typeface="Playfair Display"/>
                <a:cs typeface="Playfair Display"/>
                <a:sym typeface="Playfair Display"/>
              </a:rPr>
              <a:t>To Sell, or Not to Sell</a:t>
            </a:r>
            <a:endParaRPr sz="3020">
              <a:solidFill>
                <a:schemeClr val="lt1"/>
              </a:solidFill>
              <a:latin typeface="Playfair Display"/>
              <a:ea typeface="Playfair Display"/>
              <a:cs typeface="Playfair Display"/>
              <a:sym typeface="Playfair Display"/>
            </a:endParaRPr>
          </a:p>
        </p:txBody>
      </p:sp>
      <p:sp>
        <p:nvSpPr>
          <p:cNvPr id="273" name="Google Shape;273;p43"/>
          <p:cNvSpPr txBox="1"/>
          <p:nvPr/>
        </p:nvSpPr>
        <p:spPr>
          <a:xfrm>
            <a:off x="3498000" y="744900"/>
            <a:ext cx="2148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chemeClr val="dk1"/>
                </a:solidFill>
                <a:latin typeface="Cambria"/>
                <a:ea typeface="Cambria"/>
                <a:cs typeface="Cambria"/>
                <a:sym typeface="Cambria"/>
              </a:rPr>
              <a:t>We Will Not Sell</a:t>
            </a:r>
            <a:endParaRPr b="1" sz="2100">
              <a:solidFill>
                <a:schemeClr val="dk1"/>
              </a:solidFill>
              <a:latin typeface="Cambria"/>
              <a:ea typeface="Cambria"/>
              <a:cs typeface="Cambria"/>
              <a:sym typeface="Cambria"/>
            </a:endParaRPr>
          </a:p>
        </p:txBody>
      </p:sp>
      <p:sp>
        <p:nvSpPr>
          <p:cNvPr id="274" name="Google Shape;274;p43"/>
          <p:cNvSpPr txBox="1"/>
          <p:nvPr/>
        </p:nvSpPr>
        <p:spPr>
          <a:xfrm>
            <a:off x="342750" y="1593400"/>
            <a:ext cx="8458500" cy="208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While the agreement is attractive, and we have our stockholders to keep in mind,</a:t>
            </a:r>
            <a:endParaRPr sz="1800">
              <a:solidFill>
                <a:schemeClr val="dk1"/>
              </a:solidFill>
              <a:latin typeface="Calibri"/>
              <a:ea typeface="Calibri"/>
              <a:cs typeface="Calibri"/>
              <a:sym typeface="Calibri"/>
            </a:endParaRPr>
          </a:p>
          <a:p>
            <a:pPr indent="-342900" lvl="0" marL="457200" rtl="0" algn="l">
              <a:spcBef>
                <a:spcPts val="100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New owners have no experience or connection— its just a “fun” </a:t>
            </a:r>
            <a:r>
              <a:rPr lang="en" sz="1800">
                <a:solidFill>
                  <a:schemeClr val="dk1"/>
                </a:solidFill>
                <a:latin typeface="Calibri"/>
                <a:ea typeface="Calibri"/>
                <a:cs typeface="Calibri"/>
                <a:sym typeface="Calibri"/>
              </a:rPr>
              <a:t>investment</a:t>
            </a:r>
            <a:endParaRPr sz="1800">
              <a:solidFill>
                <a:schemeClr val="dk1"/>
              </a:solidFill>
              <a:latin typeface="Calibri"/>
              <a:ea typeface="Calibri"/>
              <a:cs typeface="Calibri"/>
              <a:sym typeface="Calibri"/>
            </a:endParaRPr>
          </a:p>
          <a:p>
            <a:pPr indent="-342900" lvl="0" marL="457200" rtl="0" algn="l">
              <a:spcBef>
                <a:spcPts val="100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CSR commitments won’t be upheld</a:t>
            </a:r>
            <a:endParaRPr sz="1800">
              <a:solidFill>
                <a:schemeClr val="dk1"/>
              </a:solidFill>
              <a:latin typeface="Calibri"/>
              <a:ea typeface="Calibri"/>
              <a:cs typeface="Calibri"/>
              <a:sym typeface="Calibri"/>
            </a:endParaRPr>
          </a:p>
          <a:p>
            <a:pPr indent="-342900" lvl="0" marL="457200" rtl="0" algn="l">
              <a:spcBef>
                <a:spcPts val="100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Risk for our customers, employees, suppliers, and business partners</a:t>
            </a:r>
            <a:endParaRPr sz="1800">
              <a:solidFill>
                <a:schemeClr val="dk1"/>
              </a:solidFill>
              <a:latin typeface="Calibri"/>
              <a:ea typeface="Calibri"/>
              <a:cs typeface="Calibri"/>
              <a:sym typeface="Calibri"/>
            </a:endParaRPr>
          </a:p>
          <a:p>
            <a:pPr indent="-342900" lvl="1" marL="914400" rtl="0" algn="l">
              <a:spcBef>
                <a:spcPts val="1000"/>
              </a:spcBef>
              <a:spcAft>
                <a:spcPts val="1000"/>
              </a:spcAft>
              <a:buClr>
                <a:schemeClr val="dk1"/>
              </a:buClr>
              <a:buSzPts val="1800"/>
              <a:buFont typeface="Calibri"/>
              <a:buChar char="-"/>
            </a:pPr>
            <a:r>
              <a:rPr lang="en" sz="1800">
                <a:solidFill>
                  <a:schemeClr val="dk1"/>
                </a:solidFill>
                <a:latin typeface="Calibri"/>
                <a:ea typeface="Calibri"/>
                <a:cs typeface="Calibri"/>
                <a:sym typeface="Calibri"/>
              </a:rPr>
              <a:t>Loss of jobs, poor leadership, etc. </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78" name="Shape 278"/>
        <p:cNvGrpSpPr/>
        <p:nvPr/>
      </p:nvGrpSpPr>
      <p:grpSpPr>
        <a:xfrm>
          <a:off x="0" y="0"/>
          <a:ext cx="0" cy="0"/>
          <a:chOff x="0" y="0"/>
          <a:chExt cx="0" cy="0"/>
        </a:xfrm>
      </p:grpSpPr>
      <p:sp>
        <p:nvSpPr>
          <p:cNvPr id="279" name="Google Shape;279;p44"/>
          <p:cNvSpPr txBox="1"/>
          <p:nvPr>
            <p:ph idx="1" type="body"/>
          </p:nvPr>
        </p:nvSpPr>
        <p:spPr>
          <a:xfrm>
            <a:off x="168900" y="995550"/>
            <a:ext cx="8806200" cy="3683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2500">
                <a:solidFill>
                  <a:schemeClr val="dk1"/>
                </a:solidFill>
                <a:latin typeface="Cambria"/>
                <a:ea typeface="Cambria"/>
                <a:cs typeface="Cambria"/>
                <a:sym typeface="Cambria"/>
              </a:rPr>
              <a:t>Our business has succeeded through our </a:t>
            </a:r>
            <a:r>
              <a:rPr lang="en" sz="2500">
                <a:solidFill>
                  <a:schemeClr val="dk1"/>
                </a:solidFill>
                <a:latin typeface="Cambria"/>
                <a:ea typeface="Cambria"/>
                <a:cs typeface="Cambria"/>
                <a:sym typeface="Cambria"/>
              </a:rPr>
              <a:t>efforts of </a:t>
            </a:r>
            <a:r>
              <a:rPr lang="en" sz="2500">
                <a:solidFill>
                  <a:schemeClr val="dk1"/>
                </a:solidFill>
                <a:latin typeface="Cambria"/>
                <a:ea typeface="Cambria"/>
                <a:cs typeface="Cambria"/>
                <a:sym typeface="Cambria"/>
              </a:rPr>
              <a:t>bridging the gap between convenience and community. Through the </a:t>
            </a:r>
            <a:r>
              <a:rPr lang="en" sz="2500" u="sng">
                <a:solidFill>
                  <a:schemeClr val="dk1"/>
                </a:solidFill>
                <a:latin typeface="Cambria"/>
                <a:ea typeface="Cambria"/>
                <a:cs typeface="Cambria"/>
                <a:sym typeface="Cambria"/>
              </a:rPr>
              <a:t>convenience and accessibility</a:t>
            </a:r>
            <a:r>
              <a:rPr lang="en" sz="2500">
                <a:solidFill>
                  <a:schemeClr val="dk1"/>
                </a:solidFill>
                <a:latin typeface="Cambria"/>
                <a:ea typeface="Cambria"/>
                <a:cs typeface="Cambria"/>
                <a:sym typeface="Cambria"/>
              </a:rPr>
              <a:t> of our products, the </a:t>
            </a:r>
            <a:r>
              <a:rPr lang="en" sz="2500" u="sng">
                <a:solidFill>
                  <a:schemeClr val="dk1"/>
                </a:solidFill>
                <a:latin typeface="Cambria"/>
                <a:ea typeface="Cambria"/>
                <a:cs typeface="Cambria"/>
                <a:sym typeface="Cambria"/>
              </a:rPr>
              <a:t>trust and authenticity </a:t>
            </a:r>
            <a:r>
              <a:rPr lang="en" sz="2500">
                <a:solidFill>
                  <a:schemeClr val="dk1"/>
                </a:solidFill>
                <a:latin typeface="Cambria"/>
                <a:ea typeface="Cambria"/>
                <a:cs typeface="Cambria"/>
                <a:sym typeface="Cambria"/>
              </a:rPr>
              <a:t>of our brand, our proven </a:t>
            </a:r>
            <a:r>
              <a:rPr lang="en" sz="2500" u="sng">
                <a:solidFill>
                  <a:schemeClr val="dk1"/>
                </a:solidFill>
                <a:latin typeface="Cambria"/>
                <a:ea typeface="Cambria"/>
                <a:cs typeface="Cambria"/>
                <a:sym typeface="Cambria"/>
              </a:rPr>
              <a:t>growth and performance</a:t>
            </a:r>
            <a:r>
              <a:rPr lang="en" sz="2500">
                <a:solidFill>
                  <a:schemeClr val="dk1"/>
                </a:solidFill>
                <a:latin typeface="Cambria"/>
                <a:ea typeface="Cambria"/>
                <a:cs typeface="Cambria"/>
                <a:sym typeface="Cambria"/>
              </a:rPr>
              <a:t>, as well as our </a:t>
            </a:r>
            <a:r>
              <a:rPr lang="en" sz="2500" u="sng">
                <a:solidFill>
                  <a:schemeClr val="dk1"/>
                </a:solidFill>
                <a:latin typeface="Cambria"/>
                <a:ea typeface="Cambria"/>
                <a:cs typeface="Cambria"/>
                <a:sym typeface="Cambria"/>
              </a:rPr>
              <a:t>commitment to our community and our social responsibility</a:t>
            </a:r>
            <a:r>
              <a:rPr lang="en" sz="2500">
                <a:solidFill>
                  <a:schemeClr val="dk1"/>
                </a:solidFill>
                <a:latin typeface="Cambria"/>
                <a:ea typeface="Cambria"/>
                <a:cs typeface="Cambria"/>
                <a:sym typeface="Cambria"/>
              </a:rPr>
              <a:t>, we have proven our success as a company and provided strong enough roots to expand beyond.</a:t>
            </a:r>
            <a:endParaRPr sz="2500">
              <a:solidFill>
                <a:schemeClr val="dk1"/>
              </a:solidFill>
              <a:latin typeface="Cambria"/>
              <a:ea typeface="Cambria"/>
              <a:cs typeface="Cambria"/>
              <a:sym typeface="Cambria"/>
            </a:endParaRPr>
          </a:p>
        </p:txBody>
      </p:sp>
      <p:sp>
        <p:nvSpPr>
          <p:cNvPr id="280" name="Google Shape;280;p44"/>
          <p:cNvSpPr/>
          <p:nvPr/>
        </p:nvSpPr>
        <p:spPr>
          <a:xfrm>
            <a:off x="0" y="-12"/>
            <a:ext cx="9144000" cy="744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44"/>
          <p:cNvSpPr txBox="1"/>
          <p:nvPr>
            <p:ph type="title"/>
          </p:nvPr>
        </p:nvSpPr>
        <p:spPr>
          <a:xfrm>
            <a:off x="26251" y="86100"/>
            <a:ext cx="909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chemeClr val="lt1"/>
                </a:solidFill>
                <a:latin typeface="Playfair Display"/>
                <a:ea typeface="Playfair Display"/>
                <a:cs typeface="Playfair Display"/>
                <a:sym typeface="Playfair Display"/>
              </a:rPr>
              <a:t>Summary of Success</a:t>
            </a:r>
            <a:endParaRPr sz="3020">
              <a:solidFill>
                <a:schemeClr val="lt1"/>
              </a:solidFill>
              <a:latin typeface="Playfair Display"/>
              <a:ea typeface="Playfair Display"/>
              <a:cs typeface="Playfair Display"/>
              <a:sym typeface="Playfair Displa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